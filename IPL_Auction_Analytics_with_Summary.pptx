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3.xml" ContentType="application/vnd.openxmlformats-officedocument.drawingml.chart+xml"/>
  <Override PartName="/ppt/charts/chart4.xml" ContentType="application/vnd.openxmlformats-officedocument.drawingml.chart+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5.xml" ContentType="application/vnd.openxmlformats-officedocument.drawingml.chart+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12.xml" ContentType="application/vnd.openxmlformats-officedocument.presentationml.slide+xml"/>
</Types>
</file>

<file path=_rels/.rels><?xml version="1.0" encoding="UTF-8"?><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7" r:id="rId12"/>
    <p:sldId id="268" r:id="rId18"/>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3447" autoAdjust="0"/>
  </p:normalViewPr>
  <p:slideViewPr>
    <p:cSldViewPr snapToGrid="0" snapToObjects="1">
      <p:cViewPr>
        <p:scale>
          <a:sx n="85" d="100"/>
          <a:sy n="85" d="100"/>
        </p:scale>
        <p:origin x="740" y="44"/>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 Id="rId18" Type="http://schemas.openxmlformats.org/officeDocument/2006/relationships/slide" Target="slides/slide12.xml"/></Relationships>
</file>

<file path=ppt/charts/_rels/chart1.xml.rels><?xml version="1.0" encoding="UTF-8"?><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title>
      <c:tx>
        <c:rich>
          <a:bodyPr/>
          <a:lstStyle/>
          <a:p>
            <a:pPr>
              <a:defRPr sz="1300" b="0" i="0" u="none" strike="noStrike">
                <a:solidFill>
                  <a:srgbClr val="FFFFFF"/>
                </a:solidFill>
                <a:latin typeface="Arial"/>
              </a:defRPr>
            </a:pPr>
            <a:r>
              <a:rPr lang="en-US" sz="1300" b="0" i="0" u="none" strike="noStrike">
                <a:solidFill>
                  <a:srgbClr val="FFFFFF"/>
                </a:solidFill>
                <a:latin typeface="Arial"/>
              </a:rPr>
              <a:t>Avg Bid by Role (Crores)</a:t>
            </a:r>
          </a:p>
        </c:rich>
      </c:tx>
      <c:overlay val="0"/>
    </c:title>
    <c:autoTitleDeleted val="0"/>
    <c:plotArea>
      <c:layout/>
      <c:barChart>
        <c:barDir val="col"/>
        <c:grouping val="clustered"/>
        <c:varyColors val="0"/>
        <c:ser>
          <c:idx val="0"/>
          <c:order val="0"/>
          <c:tx>
            <c:strRef>
              <c:f>Sheet1!$B$1</c:f>
              <c:strCache>
                <c:ptCount val="1"/>
                <c:pt idx="0">
                  <c:v>Avg Bid (Crores)</c:v>
                </c:pt>
              </c:strCache>
            </c:strRef>
          </c:tx>
          <c:spPr>
            <a:solidFill>
              <a:srgbClr val="D4A017"/>
            </a:solidFill>
            <a:effectLst/>
          </c:spPr>
          <c:invertIfNegative val="0"/>
          <c:dPt>
            <c:idx val="0"/>
            <c:invertIfNegative val="0"/>
            <c:bubble3D val="0"/>
            <c:spPr>
              <a:solidFill>
                <a:srgbClr val="D4A017"/>
              </a:solidFill>
              <a:effectLst/>
            </c:spPr>
            <c:extLst>
              <c:ext xmlns:c16="http://schemas.microsoft.com/office/drawing/2014/chart" uri="{C3380CC4-5D6E-409C-BE32-E72D297353CC}">
                <c16:uniqueId val="{00000001-AC26-4376-A5FA-B847EB2D4AD7}"/>
              </c:ext>
            </c:extLst>
          </c:dPt>
          <c:dPt>
            <c:idx val="1"/>
            <c:invertIfNegative val="0"/>
            <c:bubble3D val="0"/>
            <c:spPr>
              <a:solidFill>
                <a:srgbClr val="E8B84B"/>
              </a:solidFill>
              <a:effectLst/>
            </c:spPr>
            <c:extLst>
              <c:ext xmlns:c16="http://schemas.microsoft.com/office/drawing/2014/chart" uri="{C3380CC4-5D6E-409C-BE32-E72D297353CC}">
                <c16:uniqueId val="{00000003-AC26-4376-A5FA-B847EB2D4AD7}"/>
              </c:ext>
            </c:extLst>
          </c:dPt>
          <c:dPt>
            <c:idx val="2"/>
            <c:invertIfNegative val="0"/>
            <c:bubble3D val="0"/>
            <c:spPr>
              <a:solidFill>
                <a:srgbClr val="C8972A"/>
              </a:solidFill>
              <a:effectLst/>
            </c:spPr>
            <c:extLst>
              <c:ext xmlns:c16="http://schemas.microsoft.com/office/drawing/2014/chart" uri="{C3380CC4-5D6E-409C-BE32-E72D297353CC}">
                <c16:uniqueId val="{00000005-AC26-4376-A5FA-B847EB2D4AD7}"/>
              </c:ext>
            </c:extLst>
          </c:dPt>
          <c:dPt>
            <c:idx val="3"/>
            <c:invertIfNegative val="0"/>
            <c:bubble3D val="0"/>
            <c:spPr>
              <a:solidFill>
                <a:srgbClr val="A07020"/>
              </a:solidFill>
              <a:effectLst/>
            </c:spPr>
            <c:extLst>
              <c:ext xmlns:c16="http://schemas.microsoft.com/office/drawing/2014/chart" uri="{C3380CC4-5D6E-409C-BE32-E72D297353CC}">
                <c16:uniqueId val="{00000007-AC26-4376-A5FA-B847EB2D4AD7}"/>
              </c:ext>
            </c:extLst>
          </c:dPt>
          <c:dLbls>
            <c:numFmt formatCode="#,##0" sourceLinked="0"/>
            <c:spPr>
              <a:noFill/>
              <a:ln>
                <a:noFill/>
              </a:ln>
              <a:effectLst/>
            </c:spPr>
            <c:txPr>
              <a:bodyPr/>
              <a:lstStyle/>
              <a:p>
                <a:pPr>
                  <a:defRPr sz="1000" b="0" i="0" u="none" strike="noStrike">
                    <a:solidFill>
                      <a:srgbClr val="FFFFFF"/>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All-Rounder</c:v>
                </c:pt>
                <c:pt idx="1">
                  <c:v>Batsman</c:v>
                </c:pt>
                <c:pt idx="2">
                  <c:v>Wicket Keeper</c:v>
                </c:pt>
                <c:pt idx="3">
                  <c:v>Bowler</c:v>
                </c:pt>
              </c:strCache>
            </c:strRef>
          </c:cat>
          <c:val>
            <c:numRef>
              <c:f>Sheet1!$B$2:$B$5</c:f>
              <c:numCache>
                <c:formatCode>General</c:formatCode>
                <c:ptCount val="4"/>
                <c:pt idx="0">
                  <c:v>2.25</c:v>
                </c:pt>
                <c:pt idx="1">
                  <c:v>2.16</c:v>
                </c:pt>
                <c:pt idx="2">
                  <c:v>2</c:v>
                </c:pt>
                <c:pt idx="3">
                  <c:v>1.96</c:v>
                </c:pt>
              </c:numCache>
            </c:numRef>
          </c:val>
          <c:extLst>
            <c:ext xmlns:c16="http://schemas.microsoft.com/office/drawing/2014/chart" uri="{C3380CC4-5D6E-409C-BE32-E72D297353CC}">
              <c16:uniqueId val="{00000008-AC26-4376-A5FA-B847EB2D4AD7}"/>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B0B0B0"/>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3A3A6A"/>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B0B0B0"/>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22224A"/>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FFFFFF"/>
                </a:solidFill>
                <a:latin typeface="Arial"/>
              </a:defRPr>
            </a:pPr>
            <a:r>
              <a:rPr lang="en-US" sz="1200" b="0" i="0" u="none" strike="noStrike">
                <a:solidFill>
                  <a:srgbClr val="FFFFFF"/>
                </a:solidFill>
                <a:latin typeface="Arial"/>
              </a:rPr>
              <a:t>Player Origin Split</a:t>
            </a:r>
          </a:p>
        </c:rich>
      </c:tx>
      <c:overlay val="0"/>
    </c:title>
    <c:autoTitleDeleted val="0"/>
    <c:plotArea>
      <c:layout/>
      <c:pieChart>
        <c:varyColors val="1"/>
        <c:ser>
          <c:idx val="0"/>
          <c:order val="0"/>
          <c:tx>
            <c:strRef>
              <c:f>Sheet1!$B$1</c:f>
              <c:strCache>
                <c:ptCount val="1"/>
                <c:pt idx="0">
                  <c:v>Origin</c:v>
                </c:pt>
              </c:strCache>
            </c:strRef>
          </c:tx>
          <c:spPr>
            <a:solidFill>
              <a:schemeClr val="accent1"/>
            </a:solidFill>
            <a:ln w="9525" cap="flat">
              <a:solidFill>
                <a:srgbClr val="F9F9F9"/>
              </a:solidFill>
              <a:prstDash val="solid"/>
              <a:round/>
            </a:ln>
            <a:effectLst/>
          </c:spPr>
          <c:dPt>
            <c:idx val="0"/>
            <c:bubble3D val="0"/>
            <c:spPr>
              <a:solidFill>
                <a:srgbClr val="D4A017"/>
              </a:solidFill>
              <a:effectLst/>
            </c:spPr>
            <c:extLst>
              <c:ext xmlns:c16="http://schemas.microsoft.com/office/drawing/2014/chart" uri="{C3380CC4-5D6E-409C-BE32-E72D297353CC}">
                <c16:uniqueId val="{00000001-F4DD-43BB-8948-33557729EEBF}"/>
              </c:ext>
            </c:extLst>
          </c:dPt>
          <c:dPt>
            <c:idx val="1"/>
            <c:bubble3D val="0"/>
            <c:spPr>
              <a:solidFill>
                <a:srgbClr val="E87040"/>
              </a:solidFill>
              <a:effectLst/>
            </c:spPr>
            <c:extLst>
              <c:ext xmlns:c16="http://schemas.microsoft.com/office/drawing/2014/chart" uri="{C3380CC4-5D6E-409C-BE32-E72D297353CC}">
                <c16:uniqueId val="{00000003-F4DD-43BB-8948-33557729EEBF}"/>
              </c:ext>
            </c:extLst>
          </c:dPt>
          <c:dLbls>
            <c:dLbl>
              <c:idx val="0"/>
              <c:numFmt formatCode="0%" sourceLinked="0"/>
              <c:spPr/>
              <c:txPr>
                <a:bodyPr/>
                <a:lstStyle/>
                <a:p>
                  <a:pPr>
                    <a:defRPr sz="1000" b="0" i="0" u="none" strike="noStrike">
                      <a:solidFill>
                        <a:srgbClr val="FFFFFF"/>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1-F4DD-43BB-8948-33557729EEBF}"/>
                </c:ext>
              </c:extLst>
            </c:dLbl>
            <c:dLbl>
              <c:idx val="1"/>
              <c:numFmt formatCode="0%" sourceLinked="0"/>
              <c:spPr/>
              <c:txPr>
                <a:bodyPr/>
                <a:lstStyle/>
                <a:p>
                  <a:pPr>
                    <a:defRPr sz="1000" b="0" i="0" u="none" strike="noStrike">
                      <a:solidFill>
                        <a:srgbClr val="FFFFFF"/>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3-F4DD-43BB-8948-33557729EEBF}"/>
                </c:ext>
              </c:extLst>
            </c:dLbl>
            <c:numFmt formatCode="0%" sourceLinked="0"/>
            <c:spPr>
              <a:noFill/>
              <a:ln>
                <a:noFill/>
              </a:ln>
              <a:effectLst/>
            </c:spPr>
            <c:txPr>
              <a:bodyPr/>
              <a:lstStyle/>
              <a:p>
                <a:pPr>
                  <a:defRPr sz="1800" b="0" i="0" u="none" strike="noStrike">
                    <a:solidFill>
                      <a:srgbClr val="000000"/>
                    </a:solidFill>
                    <a:latin typeface="Arial"/>
                  </a:defRPr>
                </a:pPr>
                <a:endParaRPr lang="en-US"/>
              </a:p>
            </c:txPr>
            <c:dLblPos val="ctr"/>
            <c:showLegendKey val="0"/>
            <c:showVal val="0"/>
            <c:showCatName val="1"/>
            <c:showSerName val="0"/>
            <c:showPercent val="1"/>
            <c:showBubbleSize val="0"/>
            <c:showLeaderLines val="0"/>
            <c:extLst>
              <c:ext xmlns:c15="http://schemas.microsoft.com/office/drawing/2012/chart" uri="{CE6537A1-D6FC-4f65-9D91-7224C49458BB}"/>
            </c:extLst>
          </c:dLbls>
          <c:cat>
            <c:strRef>
              <c:f>Sheet1!$A$2:$A$3</c:f>
              <c:strCache>
                <c:ptCount val="2"/>
                <c:pt idx="0">
                  <c:v>Indian</c:v>
                </c:pt>
                <c:pt idx="1">
                  <c:v>Overseas</c:v>
                </c:pt>
              </c:strCache>
            </c:strRef>
          </c:cat>
          <c:val>
            <c:numRef>
              <c:f>Sheet1!$B$2:$B$3</c:f>
              <c:numCache>
                <c:formatCode>General</c:formatCode>
                <c:ptCount val="2"/>
                <c:pt idx="0">
                  <c:v>347</c:v>
                </c:pt>
                <c:pt idx="1">
                  <c:v>197</c:v>
                </c:pt>
              </c:numCache>
            </c:numRef>
          </c:val>
          <c:extLst>
            <c:ext xmlns:c16="http://schemas.microsoft.com/office/drawing/2014/chart" uri="{C3380CC4-5D6E-409C-BE32-E72D297353CC}">
              <c16:uniqueId val="{00000004-F4DD-43BB-8948-33557729EEBF}"/>
            </c:ext>
          </c:extLst>
        </c:ser>
        <c:dLbls>
          <c:showLegendKey val="0"/>
          <c:showVal val="0"/>
          <c:showCatName val="0"/>
          <c:showSerName val="0"/>
          <c:showPercent val="0"/>
          <c:showBubbleSize val="0"/>
          <c:showLeaderLines val="0"/>
        </c:dLbls>
        <c:firstSliceAng val="0"/>
      </c:pieChart>
      <c:spPr>
        <a:noFill/>
        <a:ln>
          <a:noFill/>
        </a:ln>
        <a:effectLst/>
      </c:spPr>
    </c:plotArea>
    <c:legend>
      <c:legendPos val="r"/>
      <c:overlay val="0"/>
      <c:txPr>
        <a:bodyPr/>
        <a:lstStyle/>
        <a:p>
          <a:pPr>
            <a:defRPr sz="1000">
              <a:solidFill>
                <a:srgbClr val="FFFFFF"/>
              </a:solidFill>
            </a:defRPr>
          </a:pPr>
          <a:endParaRPr lang="en-US"/>
        </a:p>
      </c:txPr>
    </c:legend>
    <c:plotVisOnly val="1"/>
    <c:dispBlanksAs val="span"/>
    <c:showDLblsOverMax val="1"/>
  </c:chart>
  <c:spPr>
    <a:solidFill>
      <a:srgbClr val="22224A"/>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title>
      <c:tx>
        <c:rich>
          <a:bodyPr/>
          <a:lstStyle/>
          <a:p>
            <a:pPr>
              <a:defRPr sz="1300" b="0" i="0" u="none" strike="noStrike">
                <a:solidFill>
                  <a:srgbClr val="FFFFFF"/>
                </a:solidFill>
                <a:latin typeface="Arial"/>
              </a:defRPr>
            </a:pPr>
            <a:r>
              <a:rPr lang="en-US" sz="1300" b="0" i="0" u="none" strike="noStrike">
                <a:solidFill>
                  <a:srgbClr val="FFFFFF"/>
                </a:solidFill>
                <a:latin typeface="Arial"/>
              </a:rPr>
              <a:t>Total Spend by Franchise (Billions)</a:t>
            </a:r>
          </a:p>
        </c:rich>
      </c:tx>
      <c:overlay val="0"/>
    </c:title>
    <c:autoTitleDeleted val="0"/>
    <c:plotArea>
      <c:layout/>
      <c:barChart>
        <c:barDir val="bar"/>
        <c:grouping val="clustered"/>
        <c:varyColors val="0"/>
        <c:ser>
          <c:idx val="0"/>
          <c:order val="0"/>
          <c:tx>
            <c:strRef>
              <c:f>Sheet1!$B$1</c:f>
              <c:strCache>
                <c:ptCount val="1"/>
                <c:pt idx="0">
                  <c:v>Total Spend (Billions)</c:v>
                </c:pt>
              </c:strCache>
            </c:strRef>
          </c:tx>
          <c:spPr>
            <a:solidFill>
              <a:srgbClr val="D4A017"/>
            </a:solidFill>
            <a:effectLst/>
          </c:spPr>
          <c:invertIfNegative val="0"/>
          <c:dLbls>
            <c:numFmt formatCode="#,##0" sourceLinked="0"/>
            <c:spPr>
              <a:noFill/>
              <a:ln>
                <a:noFill/>
              </a:ln>
              <a:effectLst/>
            </c:spPr>
            <c:txPr>
              <a:bodyPr/>
              <a:lstStyle/>
              <a:p>
                <a:pPr>
                  <a:defRPr sz="900" b="0" i="0" u="none" strike="noStrike">
                    <a:solidFill>
                      <a:srgbClr val="FFFFFF"/>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Punjab Kings</c:v>
                </c:pt>
                <c:pt idx="1">
                  <c:v>Delhi Capitals</c:v>
                </c:pt>
                <c:pt idx="2">
                  <c:v>Royal Challengers</c:v>
                </c:pt>
                <c:pt idx="3">
                  <c:v>Sunrisers Hyd.</c:v>
                </c:pt>
                <c:pt idx="4">
                  <c:v>Kolkata KR</c:v>
                </c:pt>
                <c:pt idx="5">
                  <c:v>Rajasthan Royals</c:v>
                </c:pt>
                <c:pt idx="6">
                  <c:v>Mumbai Indians</c:v>
                </c:pt>
                <c:pt idx="7">
                  <c:v>Chennai SK</c:v>
                </c:pt>
              </c:strCache>
            </c:strRef>
          </c:cat>
          <c:val>
            <c:numRef>
              <c:f>Sheet1!$B$2:$B$9</c:f>
              <c:numCache>
                <c:formatCode>General</c:formatCode>
                <c:ptCount val="8"/>
                <c:pt idx="0">
                  <c:v>3</c:v>
                </c:pt>
                <c:pt idx="1">
                  <c:v>2.9</c:v>
                </c:pt>
                <c:pt idx="2">
                  <c:v>2.7</c:v>
                </c:pt>
                <c:pt idx="3">
                  <c:v>2.2999999999999998</c:v>
                </c:pt>
                <c:pt idx="4">
                  <c:v>2.2000000000000002</c:v>
                </c:pt>
                <c:pt idx="5">
                  <c:v>2</c:v>
                </c:pt>
                <c:pt idx="6">
                  <c:v>1.9</c:v>
                </c:pt>
                <c:pt idx="7">
                  <c:v>1.6</c:v>
                </c:pt>
              </c:numCache>
            </c:numRef>
          </c:val>
          <c:extLst>
            <c:ext xmlns:c16="http://schemas.microsoft.com/office/drawing/2014/chart" uri="{C3380CC4-5D6E-409C-BE32-E72D297353CC}">
              <c16:uniqueId val="{00000000-DC0D-480C-A6C2-F140BFCF959A}"/>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B0B0B0"/>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b"/>
        <c:majorGridlines>
          <c:spPr>
            <a:ln w="6350" cap="flat">
              <a:solidFill>
                <a:srgbClr val="3A3A6A"/>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B0B0B0"/>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22224A"/>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FFFFFF"/>
                </a:solidFill>
                <a:latin typeface="Arial"/>
              </a:defRPr>
            </a:pPr>
            <a:r>
              <a:rPr lang="en-US" sz="1200" b="0" i="0" u="none" strike="noStrike">
                <a:solidFill>
                  <a:srgbClr val="FFFFFF"/>
                </a:solidFill>
                <a:latin typeface="Arial"/>
              </a:rPr>
              <a:t>Spend by Role</a:t>
            </a:r>
          </a:p>
        </c:rich>
      </c:tx>
      <c:overlay val="0"/>
    </c:title>
    <c:autoTitleDeleted val="0"/>
    <c:plotArea>
      <c:layout/>
      <c:doughnutChart>
        <c:varyColors val="1"/>
        <c:ser>
          <c:idx val="0"/>
          <c:order val="0"/>
          <c:tx>
            <c:strRef>
              <c:f>Sheet1!$B$1</c:f>
              <c:strCache>
                <c:ptCount val="1"/>
                <c:pt idx="0">
                  <c:v>Role Spend</c:v>
                </c:pt>
              </c:strCache>
            </c:strRef>
          </c:tx>
          <c:spPr>
            <a:solidFill>
              <a:schemeClr val="accent1"/>
            </a:solidFill>
            <a:ln w="9525" cap="flat">
              <a:solidFill>
                <a:srgbClr val="F9F9F9"/>
              </a:solidFill>
              <a:prstDash val="solid"/>
              <a:round/>
            </a:ln>
            <a:effectLst/>
          </c:spPr>
          <c:dPt>
            <c:idx val="0"/>
            <c:bubble3D val="0"/>
            <c:spPr>
              <a:solidFill>
                <a:srgbClr val="E87040"/>
              </a:solidFill>
              <a:effectLst/>
            </c:spPr>
            <c:extLst>
              <c:ext xmlns:c16="http://schemas.microsoft.com/office/drawing/2014/chart" uri="{C3380CC4-5D6E-409C-BE32-E72D297353CC}">
                <c16:uniqueId val="{00000001-DEAC-48A0-909C-AA8D77DEFCBB}"/>
              </c:ext>
            </c:extLst>
          </c:dPt>
          <c:dPt>
            <c:idx val="1"/>
            <c:bubble3D val="0"/>
            <c:spPr>
              <a:solidFill>
                <a:srgbClr val="E8B84B"/>
              </a:solidFill>
              <a:effectLst/>
            </c:spPr>
            <c:extLst>
              <c:ext xmlns:c16="http://schemas.microsoft.com/office/drawing/2014/chart" uri="{C3380CC4-5D6E-409C-BE32-E72D297353CC}">
                <c16:uniqueId val="{00000003-DEAC-48A0-909C-AA8D77DEFCBB}"/>
              </c:ext>
            </c:extLst>
          </c:dPt>
          <c:dPt>
            <c:idx val="2"/>
            <c:bubble3D val="0"/>
            <c:spPr>
              <a:solidFill>
                <a:srgbClr val="D4A017"/>
              </a:solidFill>
              <a:effectLst/>
            </c:spPr>
            <c:extLst>
              <c:ext xmlns:c16="http://schemas.microsoft.com/office/drawing/2014/chart" uri="{C3380CC4-5D6E-409C-BE32-E72D297353CC}">
                <c16:uniqueId val="{00000005-DEAC-48A0-909C-AA8D77DEFCBB}"/>
              </c:ext>
            </c:extLst>
          </c:dPt>
          <c:dPt>
            <c:idx val="3"/>
            <c:bubble3D val="0"/>
            <c:spPr>
              <a:solidFill>
                <a:srgbClr val="6060A0"/>
              </a:solidFill>
              <a:effectLst/>
            </c:spPr>
            <c:extLst>
              <c:ext xmlns:c16="http://schemas.microsoft.com/office/drawing/2014/chart" uri="{C3380CC4-5D6E-409C-BE32-E72D297353CC}">
                <c16:uniqueId val="{00000007-DEAC-48A0-909C-AA8D77DEFCBB}"/>
              </c:ext>
            </c:extLst>
          </c:dPt>
          <c:dLbls>
            <c:dLbl>
              <c:idx val="0"/>
              <c:numFmt formatCode="0%" sourceLinked="0"/>
              <c:spPr/>
              <c:txPr>
                <a:bodyPr/>
                <a:lstStyle/>
                <a:p>
                  <a:pPr>
                    <a:defRPr sz="900" b="0" i="0" u="none" strike="noStrike">
                      <a:solidFill>
                        <a:srgbClr val="FFFFFF"/>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1-DEAC-48A0-909C-AA8D77DEFCBB}"/>
                </c:ext>
              </c:extLst>
            </c:dLbl>
            <c:dLbl>
              <c:idx val="1"/>
              <c:numFmt formatCode="0%" sourceLinked="0"/>
              <c:spPr/>
              <c:txPr>
                <a:bodyPr/>
                <a:lstStyle/>
                <a:p>
                  <a:pPr>
                    <a:defRPr sz="900" b="0" i="0" u="none" strike="noStrike">
                      <a:solidFill>
                        <a:srgbClr val="FFFFFF"/>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3-DEAC-48A0-909C-AA8D77DEFCBB}"/>
                </c:ext>
              </c:extLst>
            </c:dLbl>
            <c:dLbl>
              <c:idx val="2"/>
              <c:numFmt formatCode="0%" sourceLinked="0"/>
              <c:spPr/>
              <c:txPr>
                <a:bodyPr/>
                <a:lstStyle/>
                <a:p>
                  <a:pPr>
                    <a:defRPr sz="900" b="0" i="0" u="none" strike="noStrike">
                      <a:solidFill>
                        <a:srgbClr val="FFFFFF"/>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5-DEAC-48A0-909C-AA8D77DEFCBB}"/>
                </c:ext>
              </c:extLst>
            </c:dLbl>
            <c:dLbl>
              <c:idx val="3"/>
              <c:numFmt formatCode="0%" sourceLinked="0"/>
              <c:spPr/>
              <c:txPr>
                <a:bodyPr/>
                <a:lstStyle/>
                <a:p>
                  <a:pPr>
                    <a:defRPr sz="900" b="0" i="0" u="none" strike="noStrike">
                      <a:solidFill>
                        <a:srgbClr val="FFFFFF"/>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7-DEAC-48A0-909C-AA8D77DEFCBB}"/>
                </c:ext>
              </c:extLst>
            </c:dLbl>
            <c:numFmt formatCode="0%" sourceLinked="0"/>
            <c:spPr>
              <a:noFill/>
              <a:ln>
                <a:noFill/>
              </a:ln>
              <a:effectLst/>
            </c:spPr>
            <c:txPr>
              <a:bodyPr/>
              <a:lstStyle/>
              <a:p>
                <a:pPr>
                  <a:defRPr sz="1800" b="0" i="0" u="none" strike="noStrike">
                    <a:solidFill>
                      <a:srgbClr val="000000"/>
                    </a:solidFill>
                    <a:latin typeface="Arial"/>
                  </a:defRPr>
                </a:pPr>
                <a:endParaRPr lang="en-US"/>
              </a:p>
            </c:txPr>
            <c:showLegendKey val="0"/>
            <c:showVal val="0"/>
            <c:showCatName val="1"/>
            <c:showSerName val="0"/>
            <c:showPercent val="1"/>
            <c:showBubbleSize val="0"/>
            <c:showLeaderLines val="0"/>
            <c:extLst>
              <c:ext xmlns:c15="http://schemas.microsoft.com/office/drawing/2012/chart" uri="{CE6537A1-D6FC-4f65-9D91-7224C49458BB}"/>
            </c:extLst>
          </c:dLbls>
          <c:cat>
            <c:strRef>
              <c:f>Sheet1!$A$2:$A$5</c:f>
              <c:strCache>
                <c:ptCount val="4"/>
                <c:pt idx="0">
                  <c:v>All-Rounder</c:v>
                </c:pt>
                <c:pt idx="1">
                  <c:v>Bowler</c:v>
                </c:pt>
                <c:pt idx="2">
                  <c:v>Batsman</c:v>
                </c:pt>
                <c:pt idx="3">
                  <c:v>Wicket Keeper</c:v>
                </c:pt>
              </c:strCache>
            </c:strRef>
          </c:cat>
          <c:val>
            <c:numRef>
              <c:f>Sheet1!$B$2:$B$5</c:f>
              <c:numCache>
                <c:formatCode>General</c:formatCode>
                <c:ptCount val="4"/>
                <c:pt idx="0">
                  <c:v>38.68</c:v>
                </c:pt>
                <c:pt idx="1">
                  <c:v>33.770000000000003</c:v>
                </c:pt>
                <c:pt idx="2">
                  <c:v>18.420000000000002</c:v>
                </c:pt>
                <c:pt idx="3">
                  <c:v>9.1199999999999992</c:v>
                </c:pt>
              </c:numCache>
            </c:numRef>
          </c:val>
          <c:extLst>
            <c:ext xmlns:c16="http://schemas.microsoft.com/office/drawing/2014/chart" uri="{C3380CC4-5D6E-409C-BE32-E72D297353CC}">
              <c16:uniqueId val="{00000008-DEAC-48A0-909C-AA8D77DEFCBB}"/>
            </c:ext>
          </c:extLst>
        </c:ser>
        <c:dLbls>
          <c:showLegendKey val="0"/>
          <c:showVal val="0"/>
          <c:showCatName val="0"/>
          <c:showSerName val="0"/>
          <c:showPercent val="0"/>
          <c:showBubbleSize val="0"/>
          <c:showLeaderLines val="0"/>
        </c:dLbls>
        <c:firstSliceAng val="0"/>
        <c:holeSize val="50"/>
      </c:doughnutChart>
      <c:spPr>
        <a:noFill/>
        <a:ln>
          <a:noFill/>
        </a:ln>
        <a:effectLst/>
      </c:spPr>
    </c:plotArea>
    <c:legend>
      <c:legendPos val="b"/>
      <c:overlay val="0"/>
      <c:txPr>
        <a:bodyPr/>
        <a:lstStyle/>
        <a:p>
          <a:pPr>
            <a:defRPr sz="900">
              <a:solidFill>
                <a:srgbClr val="FFFFFF"/>
              </a:solidFill>
            </a:defRPr>
          </a:pPr>
          <a:endParaRPr lang="en-US"/>
        </a:p>
      </c:txPr>
    </c:legend>
    <c:plotVisOnly val="1"/>
    <c:dispBlanksAs val="span"/>
    <c:showDLblsOverMax val="1"/>
  </c:chart>
  <c:spPr>
    <a:solidFill>
      <a:srgbClr val="22224A"/>
    </a:solid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title>
      <c:tx>
        <c:rich>
          <a:bodyPr/>
          <a:lstStyle/>
          <a:p>
            <a:pPr>
              <a:defRPr sz="1300" b="0" i="0" u="none" strike="noStrike">
                <a:solidFill>
                  <a:srgbClr val="FFFFFF"/>
                </a:solidFill>
                <a:latin typeface="Arial"/>
              </a:defRPr>
            </a:pPr>
            <a:r>
              <a:rPr lang="en-US" sz="1300" b="0" i="0" u="none" strike="noStrike">
                <a:solidFill>
                  <a:srgbClr val="FFFFFF"/>
                </a:solidFill>
                <a:latin typeface="Arial"/>
              </a:rPr>
              <a:t>Players per Price Bracket</a:t>
            </a:r>
          </a:p>
        </c:rich>
      </c:tx>
      <c:overlay val="0"/>
    </c:title>
    <c:autoTitleDeleted val="0"/>
    <c:plotArea>
      <c:layout/>
      <c:barChart>
        <c:barDir val="col"/>
        <c:grouping val="clustered"/>
        <c:varyColors val="0"/>
        <c:ser>
          <c:idx val="0"/>
          <c:order val="0"/>
          <c:tx>
            <c:strRef>
              <c:f>Sheet1!$B$1</c:f>
              <c:strCache>
                <c:ptCount val="1"/>
                <c:pt idx="0">
                  <c:v>Number of Players</c:v>
                </c:pt>
              </c:strCache>
            </c:strRef>
          </c:tx>
          <c:spPr>
            <a:solidFill>
              <a:srgbClr val="D4A017"/>
            </a:solidFill>
            <a:effectLst/>
          </c:spPr>
          <c:invertIfNegative val="0"/>
          <c:dPt>
            <c:idx val="0"/>
            <c:invertIfNegative val="0"/>
            <c:bubble3D val="0"/>
            <c:spPr>
              <a:solidFill>
                <a:srgbClr val="D4A017"/>
              </a:solidFill>
              <a:effectLst/>
            </c:spPr>
            <c:extLst>
              <c:ext xmlns:c16="http://schemas.microsoft.com/office/drawing/2014/chart" uri="{C3380CC4-5D6E-409C-BE32-E72D297353CC}">
                <c16:uniqueId val="{00000001-85E7-44EF-A856-578E9600E379}"/>
              </c:ext>
            </c:extLst>
          </c:dPt>
          <c:dPt>
            <c:idx val="1"/>
            <c:invertIfNegative val="0"/>
            <c:bubble3D val="0"/>
            <c:spPr>
              <a:solidFill>
                <a:srgbClr val="D4A017"/>
              </a:solidFill>
              <a:effectLst/>
            </c:spPr>
            <c:extLst>
              <c:ext xmlns:c16="http://schemas.microsoft.com/office/drawing/2014/chart" uri="{C3380CC4-5D6E-409C-BE32-E72D297353CC}">
                <c16:uniqueId val="{00000003-85E7-44EF-A856-578E9600E379}"/>
              </c:ext>
            </c:extLst>
          </c:dPt>
          <c:dPt>
            <c:idx val="2"/>
            <c:invertIfNegative val="0"/>
            <c:bubble3D val="0"/>
            <c:spPr>
              <a:solidFill>
                <a:srgbClr val="D4A017"/>
              </a:solidFill>
              <a:effectLst/>
            </c:spPr>
            <c:extLst>
              <c:ext xmlns:c16="http://schemas.microsoft.com/office/drawing/2014/chart" uri="{C3380CC4-5D6E-409C-BE32-E72D297353CC}">
                <c16:uniqueId val="{00000005-85E7-44EF-A856-578E9600E379}"/>
              </c:ext>
            </c:extLst>
          </c:dPt>
          <c:dPt>
            <c:idx val="3"/>
            <c:invertIfNegative val="0"/>
            <c:bubble3D val="0"/>
            <c:spPr>
              <a:solidFill>
                <a:srgbClr val="D4A017"/>
              </a:solidFill>
              <a:effectLst/>
            </c:spPr>
            <c:extLst>
              <c:ext xmlns:c16="http://schemas.microsoft.com/office/drawing/2014/chart" uri="{C3380CC4-5D6E-409C-BE32-E72D297353CC}">
                <c16:uniqueId val="{00000007-85E7-44EF-A856-578E9600E379}"/>
              </c:ext>
            </c:extLst>
          </c:dPt>
          <c:dPt>
            <c:idx val="4"/>
            <c:invertIfNegative val="0"/>
            <c:bubble3D val="0"/>
            <c:spPr>
              <a:solidFill>
                <a:srgbClr val="D4A017"/>
              </a:solidFill>
              <a:effectLst/>
            </c:spPr>
            <c:extLst>
              <c:ext xmlns:c16="http://schemas.microsoft.com/office/drawing/2014/chart" uri="{C3380CC4-5D6E-409C-BE32-E72D297353CC}">
                <c16:uniqueId val="{00000009-85E7-44EF-A856-578E9600E379}"/>
              </c:ext>
            </c:extLst>
          </c:dPt>
          <c:dPt>
            <c:idx val="5"/>
            <c:invertIfNegative val="0"/>
            <c:bubble3D val="0"/>
            <c:spPr>
              <a:solidFill>
                <a:srgbClr val="D4A017"/>
              </a:solidFill>
              <a:effectLst/>
            </c:spPr>
            <c:extLst>
              <c:ext xmlns:c16="http://schemas.microsoft.com/office/drawing/2014/chart" uri="{C3380CC4-5D6E-409C-BE32-E72D297353CC}">
                <c16:uniqueId val="{0000000B-85E7-44EF-A856-578E9600E379}"/>
              </c:ext>
            </c:extLst>
          </c:dPt>
          <c:dLbls>
            <c:numFmt formatCode="#,##0" sourceLinked="0"/>
            <c:spPr>
              <a:noFill/>
              <a:ln>
                <a:noFill/>
              </a:ln>
              <a:effectLst/>
            </c:spPr>
            <c:txPr>
              <a:bodyPr/>
              <a:lstStyle/>
              <a:p>
                <a:pPr>
                  <a:defRPr sz="1000" b="0" i="0" u="none" strike="noStrike">
                    <a:solidFill>
                      <a:srgbClr val="FFFFFF"/>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2–5 Cr</c:v>
                </c:pt>
                <c:pt idx="1">
                  <c:v>1–2 Cr</c:v>
                </c:pt>
                <c:pt idx="2">
                  <c:v>Under 1 Cr</c:v>
                </c:pt>
                <c:pt idx="3">
                  <c:v>5–10 Cr</c:v>
                </c:pt>
                <c:pt idx="4">
                  <c:v>10–15 Cr</c:v>
                </c:pt>
                <c:pt idx="5">
                  <c:v>Above 15 Cr</c:v>
                </c:pt>
              </c:strCache>
            </c:strRef>
          </c:cat>
          <c:val>
            <c:numRef>
              <c:f>Sheet1!$B$2:$B$7</c:f>
              <c:numCache>
                <c:formatCode>General</c:formatCode>
                <c:ptCount val="6"/>
                <c:pt idx="0">
                  <c:v>302</c:v>
                </c:pt>
                <c:pt idx="1">
                  <c:v>227</c:v>
                </c:pt>
                <c:pt idx="2">
                  <c:v>193</c:v>
                </c:pt>
                <c:pt idx="3">
                  <c:v>148</c:v>
                </c:pt>
                <c:pt idx="4">
                  <c:v>65</c:v>
                </c:pt>
                <c:pt idx="5">
                  <c:v>22</c:v>
                </c:pt>
              </c:numCache>
            </c:numRef>
          </c:val>
          <c:extLst>
            <c:ext xmlns:c16="http://schemas.microsoft.com/office/drawing/2014/chart" uri="{C3380CC4-5D6E-409C-BE32-E72D297353CC}">
              <c16:uniqueId val="{0000000C-85E7-44EF-A856-578E9600E379}"/>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B0B0B0"/>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3A3A6A"/>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B0B0B0"/>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22224A"/>
    </a:solidFill>
    <a:ln>
      <a:noFill/>
    </a:ln>
    <a:effectLst/>
  </c:spPr>
  <c:externalData r:id="rId1">
    <c:autoUpdate val="0"/>
  </c:externalData>
</c:chartSpace>
</file>

<file path=ppt/notesMasters/_rels/notesMaster1.xml.rels><?xml version="1.0" encoding="UTF-8"?><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162483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chart" Target="../charts/chart2.xml"/></Relationships>
</file>

<file path=ppt/slides/_rels/slide7.xml.rels><?xml version="1.0" encoding="UTF-8"?><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chart" Target="../charts/chart4.xml"/></Relationships>
</file>

<file path=ppt/slides/_rels/slide9.xml.rels><?xml version="1.0" encoding="UTF-8"?><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1A2E"/>
        </a:solidFill>
        <a:effectLst/>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D4A017"/>
          </a:solidFill>
          <a:ln w="12700">
            <a:solidFill>
              <a:srgbClr val="D4A017"/>
            </a:solidFill>
            <a:prstDash val="solid"/>
          </a:ln>
        </p:spPr>
        <p:txBody>
          <a:bodyPr/>
          <a:lstStyle/>
          <a:p>
            <a:endParaRPr lang="en-US"/>
          </a:p>
        </p:txBody>
      </p:sp>
      <p:sp>
        <p:nvSpPr>
          <p:cNvPr id="3" name="Shape 1"/>
          <p:cNvSpPr/>
          <p:nvPr/>
        </p:nvSpPr>
        <p:spPr>
          <a:xfrm>
            <a:off x="0" y="5033772"/>
            <a:ext cx="9144000" cy="109728"/>
          </a:xfrm>
          <a:prstGeom prst="rect">
            <a:avLst/>
          </a:prstGeom>
          <a:solidFill>
            <a:srgbClr val="D4A017"/>
          </a:solidFill>
          <a:ln w="12700">
            <a:solidFill>
              <a:srgbClr val="D4A017"/>
            </a:solidFill>
            <a:prstDash val="solid"/>
          </a:ln>
        </p:spPr>
        <p:txBody>
          <a:bodyPr/>
          <a:lstStyle/>
          <a:p>
            <a:endParaRPr lang="en-US"/>
          </a:p>
        </p:txBody>
      </p:sp>
      <p:sp>
        <p:nvSpPr>
          <p:cNvPr id="4" name="Shape 2"/>
          <p:cNvSpPr/>
          <p:nvPr/>
        </p:nvSpPr>
        <p:spPr>
          <a:xfrm>
            <a:off x="3200400" y="1158477"/>
            <a:ext cx="2743200" cy="36576"/>
          </a:xfrm>
          <a:prstGeom prst="rect">
            <a:avLst/>
          </a:prstGeom>
          <a:solidFill>
            <a:srgbClr val="D4A017"/>
          </a:solidFill>
          <a:ln w="12700">
            <a:solidFill>
              <a:srgbClr val="D4A017"/>
            </a:solidFill>
            <a:prstDash val="solid"/>
          </a:ln>
        </p:spPr>
        <p:txBody>
          <a:bodyPr/>
          <a:lstStyle/>
          <a:p>
            <a:endParaRPr lang="en-US"/>
          </a:p>
        </p:txBody>
      </p:sp>
      <p:sp>
        <p:nvSpPr>
          <p:cNvPr id="5" name="Shape 3"/>
          <p:cNvSpPr/>
          <p:nvPr/>
        </p:nvSpPr>
        <p:spPr>
          <a:xfrm>
            <a:off x="3201899" y="3474720"/>
            <a:ext cx="2743200" cy="36576"/>
          </a:xfrm>
          <a:prstGeom prst="rect">
            <a:avLst/>
          </a:prstGeom>
          <a:solidFill>
            <a:srgbClr val="D4A017"/>
          </a:solidFill>
          <a:ln w="12700">
            <a:solidFill>
              <a:srgbClr val="D4A017"/>
            </a:solidFill>
            <a:prstDash val="solid"/>
          </a:ln>
        </p:spPr>
        <p:txBody>
          <a:bodyPr/>
          <a:lstStyle/>
          <a:p>
            <a:endParaRPr lang="en-US"/>
          </a:p>
        </p:txBody>
      </p:sp>
      <p:sp>
        <p:nvSpPr>
          <p:cNvPr id="6" name="Text 4"/>
          <p:cNvSpPr/>
          <p:nvPr/>
        </p:nvSpPr>
        <p:spPr>
          <a:xfrm>
            <a:off x="659566" y="1335024"/>
            <a:ext cx="7570033" cy="1042416"/>
          </a:xfrm>
          <a:prstGeom prst="rect">
            <a:avLst/>
          </a:prstGeom>
          <a:noFill/>
          <a:ln/>
        </p:spPr>
        <p:txBody>
          <a:bodyPr wrap="square" rtlCol="0" anchor="ctr"/>
          <a:lstStyle/>
          <a:p>
            <a:pPr marL="0" indent="0" algn="ctr">
              <a:buNone/>
            </a:pPr>
            <a:r>
              <a:rPr lang="en-US" sz="4800" b="1" dirty="0">
                <a:solidFill>
                  <a:srgbClr val="F5C842"/>
                </a:solidFill>
                <a:latin typeface="Georgia" pitchFamily="34" charset="0"/>
                <a:ea typeface="Georgia" pitchFamily="34" charset="-122"/>
                <a:cs typeface="Georgia" pitchFamily="34" charset="-120"/>
              </a:rPr>
              <a:t>🏏 IPL AUCTION</a:t>
            </a:r>
            <a:endParaRPr lang="en-US" sz="4800" dirty="0"/>
          </a:p>
        </p:txBody>
      </p:sp>
      <p:sp>
        <p:nvSpPr>
          <p:cNvPr id="7" name="Text 5"/>
          <p:cNvSpPr/>
          <p:nvPr/>
        </p:nvSpPr>
        <p:spPr>
          <a:xfrm>
            <a:off x="457200" y="2331720"/>
            <a:ext cx="8229600" cy="640080"/>
          </a:xfrm>
          <a:prstGeom prst="rect">
            <a:avLst/>
          </a:prstGeom>
          <a:noFill/>
          <a:ln/>
        </p:spPr>
        <p:txBody>
          <a:bodyPr wrap="square" rtlCol="0" anchor="ctr"/>
          <a:lstStyle/>
          <a:p>
            <a:pPr marL="0" indent="0" algn="ctr">
              <a:buNone/>
            </a:pPr>
            <a:r>
              <a:rPr lang="en-US" sz="2800" b="1" kern="0" spc="400" dirty="0">
                <a:solidFill>
                  <a:srgbClr val="FFFFFF"/>
                </a:solidFill>
                <a:latin typeface="Calibri" pitchFamily="34" charset="0"/>
                <a:ea typeface="Calibri" pitchFamily="34" charset="-122"/>
                <a:cs typeface="Calibri" pitchFamily="34" charset="-120"/>
              </a:rPr>
              <a:t>PERFORMANCE ANALYTICS</a:t>
            </a:r>
            <a:endParaRPr lang="en-US" sz="2800" dirty="0"/>
          </a:p>
        </p:txBody>
      </p:sp>
      <p:sp>
        <p:nvSpPr>
          <p:cNvPr id="8" name="Text 6"/>
          <p:cNvSpPr/>
          <p:nvPr/>
        </p:nvSpPr>
        <p:spPr>
          <a:xfrm>
            <a:off x="914400" y="2798064"/>
            <a:ext cx="7315200" cy="630936"/>
          </a:xfrm>
          <a:prstGeom prst="rect">
            <a:avLst/>
          </a:prstGeom>
          <a:noFill/>
          <a:ln/>
        </p:spPr>
        <p:txBody>
          <a:bodyPr wrap="square" rtlCol="0" anchor="ctr"/>
          <a:lstStyle/>
          <a:p>
            <a:pPr marL="0" indent="0" algn="ctr">
              <a:buNone/>
            </a:pPr>
            <a:endParaRPr lang="en-US" sz="1400" dirty="0"/>
          </a:p>
          <a:p>
            <a:pPr marL="0" indent="0" algn="ctr">
              <a:buNone/>
            </a:pPr>
            <a:r>
              <a:rPr lang="en-US" sz="1400" dirty="0">
                <a:solidFill>
                  <a:srgbClr val="B0B0B0"/>
                </a:solidFill>
                <a:latin typeface="Calibri" pitchFamily="34" charset="0"/>
                <a:ea typeface="Calibri" pitchFamily="34" charset="-122"/>
                <a:cs typeface="Calibri" pitchFamily="34" charset="-120"/>
              </a:rPr>
              <a:t>2013 – 2022 IPL Auction Data</a:t>
            </a:r>
            <a:endParaRPr lang="en-US" sz="1400" dirty="0"/>
          </a:p>
        </p:txBody>
      </p:sp>
      <p:sp>
        <p:nvSpPr>
          <p:cNvPr id="9" name="Shape 7"/>
          <p:cNvSpPr/>
          <p:nvPr/>
        </p:nvSpPr>
        <p:spPr>
          <a:xfrm>
            <a:off x="731520" y="3819906"/>
            <a:ext cx="1645920" cy="822960"/>
          </a:xfrm>
          <a:prstGeom prst="rect">
            <a:avLst/>
          </a:prstGeom>
          <a:solidFill>
            <a:srgbClr val="26264A"/>
          </a:solidFill>
          <a:ln w="12700">
            <a:solidFill>
              <a:srgbClr val="D4A017"/>
            </a:solidFill>
            <a:prstDash val="solid"/>
          </a:ln>
        </p:spPr>
        <p:txBody>
          <a:bodyPr/>
          <a:lstStyle/>
          <a:p>
            <a:endParaRPr lang="en-US"/>
          </a:p>
        </p:txBody>
      </p:sp>
      <p:sp>
        <p:nvSpPr>
          <p:cNvPr id="10" name="Text 8"/>
          <p:cNvSpPr/>
          <p:nvPr/>
        </p:nvSpPr>
        <p:spPr>
          <a:xfrm>
            <a:off x="731520" y="3968496"/>
            <a:ext cx="1645920" cy="400050"/>
          </a:xfrm>
          <a:prstGeom prst="rect">
            <a:avLst/>
          </a:prstGeom>
          <a:noFill/>
          <a:ln/>
        </p:spPr>
        <p:txBody>
          <a:bodyPr wrap="square" rtlCol="0" anchor="ctr"/>
          <a:lstStyle/>
          <a:p>
            <a:pPr marL="0" indent="0" algn="ctr">
              <a:buNone/>
            </a:pPr>
            <a:r>
              <a:rPr lang="en-US" sz="2000" b="1" dirty="0">
                <a:solidFill>
                  <a:srgbClr val="F5C842"/>
                </a:solidFill>
                <a:latin typeface="Georgia" pitchFamily="34" charset="0"/>
                <a:ea typeface="Georgia" pitchFamily="34" charset="-122"/>
                <a:cs typeface="Georgia" pitchFamily="34" charset="-120"/>
              </a:rPr>
              <a:t>543</a:t>
            </a:r>
            <a:endParaRPr lang="en-US" sz="2000" dirty="0"/>
          </a:p>
        </p:txBody>
      </p:sp>
      <p:sp>
        <p:nvSpPr>
          <p:cNvPr id="11" name="Text 9"/>
          <p:cNvSpPr/>
          <p:nvPr/>
        </p:nvSpPr>
        <p:spPr>
          <a:xfrm>
            <a:off x="731520" y="4368546"/>
            <a:ext cx="1645920" cy="203454"/>
          </a:xfrm>
          <a:prstGeom prst="rect">
            <a:avLst/>
          </a:prstGeom>
          <a:noFill/>
          <a:ln/>
        </p:spPr>
        <p:txBody>
          <a:bodyPr wrap="square" rtlCol="0" anchor="ctr"/>
          <a:lstStyle/>
          <a:p>
            <a:pPr marL="0" indent="0" algn="ctr">
              <a:buNone/>
            </a:pPr>
            <a:r>
              <a:rPr lang="en-US" sz="1000" dirty="0">
                <a:solidFill>
                  <a:srgbClr val="B0B0B0"/>
                </a:solidFill>
                <a:latin typeface="Calibri" pitchFamily="34" charset="0"/>
                <a:ea typeface="Calibri" pitchFamily="34" charset="-122"/>
                <a:cs typeface="Calibri" pitchFamily="34" charset="-120"/>
              </a:rPr>
              <a:t>Players</a:t>
            </a:r>
            <a:endParaRPr lang="en-US" sz="1000" dirty="0"/>
          </a:p>
        </p:txBody>
      </p:sp>
      <p:sp>
        <p:nvSpPr>
          <p:cNvPr id="12" name="Shape 10"/>
          <p:cNvSpPr/>
          <p:nvPr/>
        </p:nvSpPr>
        <p:spPr>
          <a:xfrm>
            <a:off x="2637519" y="3835908"/>
            <a:ext cx="1645920" cy="822960"/>
          </a:xfrm>
          <a:prstGeom prst="rect">
            <a:avLst/>
          </a:prstGeom>
          <a:solidFill>
            <a:srgbClr val="26264A"/>
          </a:solidFill>
          <a:ln w="12700">
            <a:solidFill>
              <a:srgbClr val="D4A017"/>
            </a:solidFill>
            <a:prstDash val="solid"/>
          </a:ln>
        </p:spPr>
        <p:txBody>
          <a:bodyPr/>
          <a:lstStyle/>
          <a:p>
            <a:endParaRPr lang="en-US"/>
          </a:p>
        </p:txBody>
      </p:sp>
      <p:sp>
        <p:nvSpPr>
          <p:cNvPr id="13" name="Text 11"/>
          <p:cNvSpPr/>
          <p:nvPr/>
        </p:nvSpPr>
        <p:spPr>
          <a:xfrm>
            <a:off x="2697480" y="3968496"/>
            <a:ext cx="1645920" cy="416052"/>
          </a:xfrm>
          <a:prstGeom prst="rect">
            <a:avLst/>
          </a:prstGeom>
          <a:noFill/>
          <a:ln/>
        </p:spPr>
        <p:txBody>
          <a:bodyPr wrap="square" rtlCol="0" anchor="ctr"/>
          <a:lstStyle/>
          <a:p>
            <a:pPr marL="0" indent="0" algn="ctr">
              <a:buNone/>
            </a:pPr>
            <a:r>
              <a:rPr lang="en-US" sz="2000" b="1" dirty="0">
                <a:solidFill>
                  <a:srgbClr val="F5C842"/>
                </a:solidFill>
                <a:latin typeface="Georgia" pitchFamily="34" charset="0"/>
                <a:ea typeface="Georgia" pitchFamily="34" charset="-122"/>
                <a:cs typeface="Georgia" pitchFamily="34" charset="-120"/>
              </a:rPr>
              <a:t>10</a:t>
            </a:r>
            <a:endParaRPr lang="en-US" sz="2000" dirty="0"/>
          </a:p>
        </p:txBody>
      </p:sp>
      <p:sp>
        <p:nvSpPr>
          <p:cNvPr id="14" name="Text 12"/>
          <p:cNvSpPr/>
          <p:nvPr/>
        </p:nvSpPr>
        <p:spPr>
          <a:xfrm>
            <a:off x="2697480" y="4384548"/>
            <a:ext cx="1645920" cy="187452"/>
          </a:xfrm>
          <a:prstGeom prst="rect">
            <a:avLst/>
          </a:prstGeom>
          <a:noFill/>
          <a:ln/>
        </p:spPr>
        <p:txBody>
          <a:bodyPr wrap="square" rtlCol="0" anchor="ctr"/>
          <a:lstStyle/>
          <a:p>
            <a:pPr marL="0" indent="0" algn="ctr">
              <a:buNone/>
            </a:pPr>
            <a:r>
              <a:rPr lang="en-US" sz="1000" dirty="0">
                <a:solidFill>
                  <a:srgbClr val="B0B0B0"/>
                </a:solidFill>
                <a:latin typeface="Calibri" pitchFamily="34" charset="0"/>
                <a:ea typeface="Calibri" pitchFamily="34" charset="-122"/>
                <a:cs typeface="Calibri" pitchFamily="34" charset="-120"/>
              </a:rPr>
              <a:t>Seasons</a:t>
            </a:r>
            <a:endParaRPr lang="en-US" sz="1000" dirty="0"/>
          </a:p>
        </p:txBody>
      </p:sp>
      <p:sp>
        <p:nvSpPr>
          <p:cNvPr id="15" name="Shape 13"/>
          <p:cNvSpPr/>
          <p:nvPr/>
        </p:nvSpPr>
        <p:spPr>
          <a:xfrm>
            <a:off x="4663440" y="3835908"/>
            <a:ext cx="1645920" cy="822960"/>
          </a:xfrm>
          <a:prstGeom prst="rect">
            <a:avLst/>
          </a:prstGeom>
          <a:solidFill>
            <a:srgbClr val="26264A"/>
          </a:solidFill>
          <a:ln w="12700">
            <a:solidFill>
              <a:srgbClr val="D4A017"/>
            </a:solidFill>
            <a:prstDash val="solid"/>
          </a:ln>
        </p:spPr>
        <p:txBody>
          <a:bodyPr/>
          <a:lstStyle/>
          <a:p>
            <a:endParaRPr lang="en-US"/>
          </a:p>
        </p:txBody>
      </p:sp>
      <p:sp>
        <p:nvSpPr>
          <p:cNvPr id="16" name="Text 14"/>
          <p:cNvSpPr/>
          <p:nvPr/>
        </p:nvSpPr>
        <p:spPr>
          <a:xfrm>
            <a:off x="4663440" y="3902202"/>
            <a:ext cx="1645920" cy="416052"/>
          </a:xfrm>
          <a:prstGeom prst="rect">
            <a:avLst/>
          </a:prstGeom>
          <a:noFill/>
          <a:ln/>
        </p:spPr>
        <p:txBody>
          <a:bodyPr wrap="square" rtlCol="0" anchor="ctr"/>
          <a:lstStyle/>
          <a:p>
            <a:pPr marL="0" indent="0" algn="ctr">
              <a:buNone/>
            </a:pPr>
            <a:r>
              <a:rPr lang="en-US" sz="2000" b="1" dirty="0">
                <a:solidFill>
                  <a:srgbClr val="F5C842"/>
                </a:solidFill>
                <a:latin typeface="Georgia" pitchFamily="34" charset="0"/>
                <a:ea typeface="Georgia" pitchFamily="34" charset="-122"/>
                <a:cs typeface="Georgia" pitchFamily="34" charset="-120"/>
              </a:rPr>
              <a:t>13</a:t>
            </a:r>
            <a:endParaRPr lang="en-US" sz="2000" dirty="0"/>
          </a:p>
        </p:txBody>
      </p:sp>
      <p:sp>
        <p:nvSpPr>
          <p:cNvPr id="17" name="Text 15"/>
          <p:cNvSpPr/>
          <p:nvPr/>
        </p:nvSpPr>
        <p:spPr>
          <a:xfrm>
            <a:off x="4663440" y="4384548"/>
            <a:ext cx="1645920" cy="214884"/>
          </a:xfrm>
          <a:prstGeom prst="rect">
            <a:avLst/>
          </a:prstGeom>
          <a:noFill/>
          <a:ln/>
        </p:spPr>
        <p:txBody>
          <a:bodyPr wrap="square" rtlCol="0" anchor="ctr"/>
          <a:lstStyle/>
          <a:p>
            <a:pPr marL="0" indent="0" algn="ctr">
              <a:buNone/>
            </a:pPr>
            <a:r>
              <a:rPr lang="en-US" sz="1000" dirty="0">
                <a:solidFill>
                  <a:srgbClr val="B0B0B0"/>
                </a:solidFill>
                <a:latin typeface="Calibri" pitchFamily="34" charset="0"/>
                <a:ea typeface="Calibri" pitchFamily="34" charset="-122"/>
                <a:cs typeface="Calibri" pitchFamily="34" charset="-120"/>
              </a:rPr>
              <a:t>Franchises</a:t>
            </a:r>
            <a:endParaRPr lang="en-US" sz="1000" dirty="0"/>
          </a:p>
        </p:txBody>
      </p:sp>
      <p:sp>
        <p:nvSpPr>
          <p:cNvPr id="18" name="Shape 16"/>
          <p:cNvSpPr/>
          <p:nvPr/>
        </p:nvSpPr>
        <p:spPr>
          <a:xfrm>
            <a:off x="6629400" y="3861054"/>
            <a:ext cx="1645920" cy="822960"/>
          </a:xfrm>
          <a:prstGeom prst="rect">
            <a:avLst/>
          </a:prstGeom>
          <a:solidFill>
            <a:srgbClr val="26264A"/>
          </a:solidFill>
          <a:ln w="12700">
            <a:solidFill>
              <a:srgbClr val="D4A017"/>
            </a:solidFill>
            <a:prstDash val="solid"/>
          </a:ln>
        </p:spPr>
        <p:txBody>
          <a:bodyPr/>
          <a:lstStyle/>
          <a:p>
            <a:endParaRPr lang="en-US"/>
          </a:p>
        </p:txBody>
      </p:sp>
      <p:sp>
        <p:nvSpPr>
          <p:cNvPr id="19" name="Text 17"/>
          <p:cNvSpPr/>
          <p:nvPr/>
        </p:nvSpPr>
        <p:spPr>
          <a:xfrm>
            <a:off x="6629400" y="3902202"/>
            <a:ext cx="1645920" cy="507492"/>
          </a:xfrm>
          <a:prstGeom prst="rect">
            <a:avLst/>
          </a:prstGeom>
          <a:noFill/>
          <a:ln/>
        </p:spPr>
        <p:txBody>
          <a:bodyPr wrap="square" rtlCol="0" anchor="ctr"/>
          <a:lstStyle/>
          <a:p>
            <a:pPr marL="0" indent="0" algn="ctr">
              <a:buNone/>
            </a:pPr>
            <a:r>
              <a:rPr lang="en-US" sz="2000" b="1" dirty="0">
                <a:solidFill>
                  <a:srgbClr val="F5C842"/>
                </a:solidFill>
                <a:latin typeface="Georgia" pitchFamily="34" charset="0"/>
                <a:ea typeface="Georgia" pitchFamily="34" charset="-122"/>
                <a:cs typeface="Georgia" pitchFamily="34" charset="-120"/>
              </a:rPr>
              <a:t>₹2.04K Cr</a:t>
            </a:r>
            <a:endParaRPr lang="en-US" sz="2000" dirty="0"/>
          </a:p>
        </p:txBody>
      </p:sp>
      <p:sp>
        <p:nvSpPr>
          <p:cNvPr id="20" name="Text 18"/>
          <p:cNvSpPr/>
          <p:nvPr/>
        </p:nvSpPr>
        <p:spPr>
          <a:xfrm>
            <a:off x="6629400" y="4384548"/>
            <a:ext cx="1645920" cy="214884"/>
          </a:xfrm>
          <a:prstGeom prst="rect">
            <a:avLst/>
          </a:prstGeom>
          <a:noFill/>
          <a:ln/>
        </p:spPr>
        <p:txBody>
          <a:bodyPr wrap="square" rtlCol="0" anchor="ctr"/>
          <a:lstStyle/>
          <a:p>
            <a:pPr marL="0" indent="0" algn="ctr">
              <a:buNone/>
            </a:pPr>
            <a:r>
              <a:rPr lang="en-US" sz="1000" dirty="0">
                <a:solidFill>
                  <a:srgbClr val="B0B0B0"/>
                </a:solidFill>
                <a:latin typeface="Calibri" pitchFamily="34" charset="0"/>
                <a:ea typeface="Calibri" pitchFamily="34" charset="-122"/>
                <a:cs typeface="Calibri" pitchFamily="34" charset="-120"/>
              </a:rPr>
              <a:t>Total Spend</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A1A2E"/>
        </a:solidFill>
        <a:effectLst/>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D4A017"/>
          </a:solidFill>
          <a:ln w="12700">
            <a:solidFill>
              <a:srgbClr val="D4A017"/>
            </a:solidFill>
            <a:prstDash val="solid"/>
          </a:ln>
        </p:spPr>
        <p:txBody>
          <a:bodyPr/>
          <a:lstStyle/>
          <a:p>
            <a:endParaRPr lang="en-US"/>
          </a:p>
        </p:txBody>
      </p:sp>
      <p:sp>
        <p:nvSpPr>
          <p:cNvPr id="3" name="Text 1"/>
          <p:cNvSpPr/>
          <p:nvPr/>
        </p:nvSpPr>
        <p:spPr>
          <a:xfrm>
            <a:off x="457200" y="182880"/>
            <a:ext cx="8229600" cy="548640"/>
          </a:xfrm>
          <a:prstGeom prst="rect">
            <a:avLst/>
          </a:prstGeom>
          <a:noFill/>
          <a:ln/>
        </p:spPr>
        <p:txBody>
          <a:bodyPr wrap="square" rtlCol="0" anchor="ctr"/>
          <a:lstStyle/>
          <a:p>
            <a:pPr marL="0" indent="0" algn="ctr">
              <a:buNone/>
            </a:pPr>
            <a:r>
              <a:rPr lang="en-US" sz="2800" b="1" dirty="0">
                <a:solidFill>
                  <a:srgbClr val="F5C842"/>
                </a:solidFill>
                <a:latin typeface="Georgia" pitchFamily="34" charset="0"/>
                <a:ea typeface="Georgia" pitchFamily="34" charset="-122"/>
                <a:cs typeface="Georgia" pitchFamily="34" charset="-120"/>
              </a:rPr>
              <a:t>PROJECT OVERVIEW</a:t>
            </a:r>
            <a:endParaRPr lang="en-US" sz="2800" dirty="0"/>
          </a:p>
        </p:txBody>
      </p:sp>
      <p:sp>
        <p:nvSpPr>
          <p:cNvPr id="4" name="Shape 2"/>
          <p:cNvSpPr/>
          <p:nvPr/>
        </p:nvSpPr>
        <p:spPr>
          <a:xfrm>
            <a:off x="365760" y="868680"/>
            <a:ext cx="8412480" cy="1371600"/>
          </a:xfrm>
          <a:prstGeom prst="rect">
            <a:avLst/>
          </a:prstGeom>
          <a:solidFill>
            <a:srgbClr val="22224A"/>
          </a:solidFill>
          <a:ln w="19050">
            <a:solidFill>
              <a:srgbClr val="D4A017"/>
            </a:solidFill>
            <a:prstDash val="solid"/>
          </a:ln>
        </p:spPr>
        <p:txBody>
          <a:bodyPr/>
          <a:lstStyle/>
          <a:p>
            <a:endParaRPr lang="en-US"/>
          </a:p>
        </p:txBody>
      </p:sp>
      <p:sp>
        <p:nvSpPr>
          <p:cNvPr id="5" name="Text 3"/>
          <p:cNvSpPr/>
          <p:nvPr/>
        </p:nvSpPr>
        <p:spPr>
          <a:xfrm>
            <a:off x="548640" y="896112"/>
            <a:ext cx="3657600" cy="320040"/>
          </a:xfrm>
          <a:prstGeom prst="rect">
            <a:avLst/>
          </a:prstGeom>
          <a:noFill/>
          <a:ln/>
        </p:spPr>
        <p:txBody>
          <a:bodyPr wrap="square" rtlCol="0" anchor="ctr"/>
          <a:lstStyle/>
          <a:p>
            <a:pPr marL="0" indent="0">
              <a:buNone/>
            </a:pPr>
            <a:r>
              <a:rPr lang="en-US" sz="1300" b="1" dirty="0">
                <a:solidFill>
                  <a:srgbClr val="D4A017"/>
                </a:solidFill>
                <a:latin typeface="Calibri" pitchFamily="34" charset="0"/>
                <a:ea typeface="Calibri" pitchFamily="34" charset="-122"/>
                <a:cs typeface="Calibri" pitchFamily="34" charset="-120"/>
              </a:rPr>
              <a:t>Problem Statement</a:t>
            </a:r>
            <a:endParaRPr lang="en-US" sz="1300" dirty="0"/>
          </a:p>
        </p:txBody>
      </p:sp>
      <p:sp>
        <p:nvSpPr>
          <p:cNvPr id="6" name="Text 4"/>
          <p:cNvSpPr/>
          <p:nvPr/>
        </p:nvSpPr>
        <p:spPr>
          <a:xfrm>
            <a:off x="548640" y="1207008"/>
            <a:ext cx="8046720" cy="914400"/>
          </a:xfrm>
          <a:prstGeom prst="rect">
            <a:avLst/>
          </a:prstGeom>
          <a:noFill/>
          <a:ln/>
        </p:spPr>
        <p:txBody>
          <a:bodyPr wrap="square" rtlCol="0" anchor="ctr"/>
          <a:lstStyle/>
          <a:p>
            <a:pPr marL="0" indent="0">
              <a:buNone/>
            </a:pPr>
            <a:r>
              <a:rPr lang="en-US" sz="1200" dirty="0">
                <a:solidFill>
                  <a:srgbClr val="FFFFFF"/>
                </a:solidFill>
                <a:latin typeface="Calibri" pitchFamily="34" charset="0"/>
                <a:ea typeface="Calibri" pitchFamily="34" charset="-122"/>
                <a:cs typeface="Calibri" pitchFamily="34" charset="-120"/>
              </a:rPr>
              <a:t>The IPL is one of cricket's biggest sporting events, with franchises spending crores on player auctions. This project analyzes auction data from 2013–2022 to uncover spending patterns, player value, and franchise strategies using interactive Power BI dashboards.</a:t>
            </a:r>
            <a:endParaRPr lang="en-US" sz="1200" dirty="0"/>
          </a:p>
        </p:txBody>
      </p:sp>
      <p:sp>
        <p:nvSpPr>
          <p:cNvPr id="7" name="Text 5"/>
          <p:cNvSpPr/>
          <p:nvPr/>
        </p:nvSpPr>
        <p:spPr>
          <a:xfrm>
            <a:off x="365760" y="2377440"/>
            <a:ext cx="8229600" cy="320040"/>
          </a:xfrm>
          <a:prstGeom prst="rect">
            <a:avLst/>
          </a:prstGeom>
          <a:noFill/>
          <a:ln/>
        </p:spPr>
        <p:txBody>
          <a:bodyPr wrap="square" rtlCol="0" anchor="ctr"/>
          <a:lstStyle/>
          <a:p>
            <a:pPr marL="0" indent="0">
              <a:buNone/>
            </a:pPr>
            <a:r>
              <a:rPr lang="en-US" sz="1400" b="1" dirty="0">
                <a:solidFill>
                  <a:srgbClr val="D4A017"/>
                </a:solidFill>
                <a:latin typeface="Calibri" pitchFamily="34" charset="0"/>
                <a:ea typeface="Calibri" pitchFamily="34" charset="-122"/>
                <a:cs typeface="Calibri" pitchFamily="34" charset="-120"/>
              </a:rPr>
              <a:t>Key Objectives</a:t>
            </a:r>
            <a:endParaRPr lang="en-US" sz="1400" dirty="0"/>
          </a:p>
        </p:txBody>
      </p:sp>
      <p:sp>
        <p:nvSpPr>
          <p:cNvPr id="8" name="Text 6"/>
          <p:cNvSpPr/>
          <p:nvPr/>
        </p:nvSpPr>
        <p:spPr>
          <a:xfrm>
            <a:off x="457200" y="2724912"/>
            <a:ext cx="8229600" cy="1371600"/>
          </a:xfrm>
          <a:prstGeom prst="rect">
            <a:avLst/>
          </a:prstGeom>
          <a:noFill/>
          <a:ln/>
        </p:spPr>
        <p:txBody>
          <a:bodyPr wrap="square" rtlCol="0" anchor="ctr"/>
          <a:lstStyle/>
          <a:p>
            <a:pPr marL="342900" indent="-342900">
              <a:buSzPct val="100000"/>
              <a:buChar char="•"/>
            </a:pPr>
            <a:r>
              <a:rPr lang="en-US" sz="1200" dirty="0">
                <a:solidFill>
                  <a:srgbClr val="FFFFFF"/>
                </a:solidFill>
                <a:latin typeface="Calibri" pitchFamily="34" charset="0"/>
                <a:ea typeface="Calibri" pitchFamily="34" charset="-122"/>
                <a:cs typeface="Calibri" pitchFamily="34" charset="-120"/>
              </a:rPr>
              <a:t>Analyze total franchise spending across 10 IPL auction seasons</a:t>
            </a:r>
            <a:endParaRPr lang="en-US" sz="1200" dirty="0"/>
          </a:p>
          <a:p>
            <a:pPr marL="342900" indent="-342900">
              <a:buSzPct val="100000"/>
              <a:buChar char="•"/>
            </a:pPr>
            <a:r>
              <a:rPr lang="en-US" sz="1200" dirty="0">
                <a:solidFill>
                  <a:srgbClr val="FFFFFF"/>
                </a:solidFill>
                <a:latin typeface="Calibri" pitchFamily="34" charset="0"/>
                <a:ea typeface="Calibri" pitchFamily="34" charset="-122"/>
                <a:cs typeface="Calibri" pitchFamily="34" charset="-120"/>
              </a:rPr>
              <a:t>Identify top players by auction price and their role distribution</a:t>
            </a:r>
            <a:endParaRPr lang="en-US" sz="1200" dirty="0"/>
          </a:p>
          <a:p>
            <a:pPr marL="342900" indent="-342900">
              <a:buSzPct val="100000"/>
              <a:buChar char="•"/>
            </a:pPr>
            <a:r>
              <a:rPr lang="en-US" sz="1200" dirty="0">
                <a:solidFill>
                  <a:srgbClr val="FFFFFF"/>
                </a:solidFill>
                <a:latin typeface="Calibri" pitchFamily="34" charset="0"/>
                <a:ea typeface="Calibri" pitchFamily="34" charset="-122"/>
                <a:cs typeface="Calibri" pitchFamily="34" charset="-120"/>
              </a:rPr>
              <a:t>Compare Indian vs. Overseas player spending and representation</a:t>
            </a:r>
            <a:endParaRPr lang="en-US" sz="1200" dirty="0"/>
          </a:p>
          <a:p>
            <a:pPr marL="342900" indent="-342900">
              <a:buSzPct val="100000"/>
              <a:buChar char="•"/>
            </a:pPr>
            <a:r>
              <a:rPr lang="en-US" sz="1200" dirty="0">
                <a:solidFill>
                  <a:srgbClr val="FFFFFF"/>
                </a:solidFill>
                <a:latin typeface="Calibri" pitchFamily="34" charset="0"/>
                <a:ea typeface="Calibri" pitchFamily="34" charset="-122"/>
                <a:cs typeface="Calibri" pitchFamily="34" charset="-120"/>
              </a:rPr>
              <a:t>Visualize team-wise role-based spending (Batsman, Bowler, All-Rounder, WK)</a:t>
            </a:r>
            <a:endParaRPr lang="en-US" sz="1200" dirty="0"/>
          </a:p>
          <a:p>
            <a:pPr marL="342900" indent="-342900">
              <a:buSzPct val="100000"/>
              <a:buChar char="•"/>
            </a:pPr>
            <a:r>
              <a:rPr lang="en-US" sz="1200" dirty="0">
                <a:solidFill>
                  <a:srgbClr val="FFFFFF"/>
                </a:solidFill>
                <a:latin typeface="Calibri" pitchFamily="34" charset="0"/>
                <a:ea typeface="Calibri" pitchFamily="34" charset="-122"/>
                <a:cs typeface="Calibri" pitchFamily="34" charset="-120"/>
              </a:rPr>
              <a:t>Examine price bracket distribution and year-over-year spend trends</a:t>
            </a:r>
            <a:endParaRPr lang="en-US" sz="1200" dirty="0"/>
          </a:p>
        </p:txBody>
      </p:sp>
      <p:sp>
        <p:nvSpPr>
          <p:cNvPr id="9" name="Shape 7"/>
          <p:cNvSpPr/>
          <p:nvPr/>
        </p:nvSpPr>
        <p:spPr>
          <a:xfrm>
            <a:off x="0" y="5033772"/>
            <a:ext cx="9144000" cy="109728"/>
          </a:xfrm>
          <a:prstGeom prst="rect">
            <a:avLst/>
          </a:prstGeom>
          <a:solidFill>
            <a:srgbClr val="D4A017"/>
          </a:solidFill>
          <a:ln w="12700">
            <a:solidFill>
              <a:srgbClr val="D4A017"/>
            </a:solidFill>
            <a:prstDash val="solid"/>
          </a:ln>
        </p:spPr>
        <p:txBody>
          <a:bodyPr/>
          <a:lstStyle/>
          <a:p>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A1A2E"/>
        </a:solidFill>
        <a:effectLst/>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D4A017"/>
          </a:solidFill>
          <a:ln w="12700">
            <a:solidFill>
              <a:srgbClr val="D4A017"/>
            </a:solidFill>
            <a:prstDash val="solid"/>
          </a:ln>
        </p:spPr>
        <p:txBody>
          <a:bodyPr/>
          <a:lstStyle/>
          <a:p>
            <a:endParaRPr lang="en-US"/>
          </a:p>
        </p:txBody>
      </p:sp>
      <p:sp>
        <p:nvSpPr>
          <p:cNvPr id="3" name="Text 1"/>
          <p:cNvSpPr/>
          <p:nvPr/>
        </p:nvSpPr>
        <p:spPr>
          <a:xfrm>
            <a:off x="274320" y="182880"/>
            <a:ext cx="8595360" cy="502920"/>
          </a:xfrm>
          <a:prstGeom prst="rect">
            <a:avLst/>
          </a:prstGeom>
          <a:noFill/>
          <a:ln/>
        </p:spPr>
        <p:txBody>
          <a:bodyPr wrap="square" rtlCol="0" anchor="ctr"/>
          <a:lstStyle/>
          <a:p>
            <a:pPr marL="0" indent="0" algn="ctr">
              <a:buNone/>
            </a:pPr>
            <a:r>
              <a:rPr lang="en-US" sz="2400" b="1" dirty="0">
                <a:solidFill>
                  <a:srgbClr val="F5C842"/>
                </a:solidFill>
                <a:latin typeface="Georgia" pitchFamily="34" charset="0"/>
                <a:ea typeface="Georgia" pitchFamily="34" charset="-122"/>
                <a:cs typeface="Georgia" pitchFamily="34" charset="-120"/>
              </a:rPr>
              <a:t>IPL AUCTION ANALYTICS – MAIN DASHBOARD</a:t>
            </a:r>
            <a:endParaRPr lang="en-US" sz="2400" dirty="0"/>
          </a:p>
        </p:txBody>
      </p:sp>
      <p:sp>
        <p:nvSpPr>
          <p:cNvPr id="5" name="Shape 2"/>
          <p:cNvSpPr/>
          <p:nvPr/>
        </p:nvSpPr>
        <p:spPr>
          <a:xfrm>
            <a:off x="0" y="5033772"/>
            <a:ext cx="9144000" cy="109728"/>
          </a:xfrm>
          <a:prstGeom prst="rect">
            <a:avLst/>
          </a:prstGeom>
          <a:solidFill>
            <a:srgbClr val="D4A017"/>
          </a:solidFill>
          <a:ln w="12700">
            <a:solidFill>
              <a:srgbClr val="D4A017"/>
            </a:solidFill>
            <a:prstDash val="solid"/>
          </a:ln>
        </p:spPr>
        <p:txBody>
          <a:bodyPr/>
          <a:lstStyle/>
          <a:p>
            <a:endParaRPr lang="en-US"/>
          </a:p>
        </p:txBody>
      </p:sp>
      <p:pic>
        <p:nvPicPr>
          <p:cNvPr id="7" name="Picture 6">
            <a:extLst>
              <a:ext uri="{FF2B5EF4-FFF2-40B4-BE49-F238E27FC236}">
                <a16:creationId xmlns:a16="http://schemas.microsoft.com/office/drawing/2014/main" id="{18B08FA8-1960-9537-91AE-F56279B32117}"/>
              </a:ext>
            </a:extLst>
          </p:cNvPr>
          <p:cNvPicPr>
            <a:picLocks noChangeAspect="1"/>
          </p:cNvPicPr>
          <p:nvPr/>
        </p:nvPicPr>
        <p:blipFill>
          <a:blip r:embed="rId3"/>
          <a:stretch>
            <a:fillRect/>
          </a:stretch>
        </p:blipFill>
        <p:spPr>
          <a:xfrm>
            <a:off x="390888" y="612043"/>
            <a:ext cx="8362223" cy="4348577"/>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A1A2E"/>
        </a:solidFill>
        <a:effectLst/>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D4A017"/>
          </a:solidFill>
          <a:ln w="12700">
            <a:solidFill>
              <a:srgbClr val="D4A017"/>
            </a:solidFill>
            <a:prstDash val="solid"/>
          </a:ln>
        </p:spPr>
        <p:txBody>
          <a:bodyPr/>
          <a:lstStyle/>
          <a:p>
            <a:endParaRPr lang="en-US"/>
          </a:p>
        </p:txBody>
      </p:sp>
      <p:sp>
        <p:nvSpPr>
          <p:cNvPr id="3" name="Text 1"/>
          <p:cNvSpPr/>
          <p:nvPr/>
        </p:nvSpPr>
        <p:spPr>
          <a:xfrm>
            <a:off x="457200" y="182880"/>
            <a:ext cx="8229600" cy="502920"/>
          </a:xfrm>
          <a:prstGeom prst="rect">
            <a:avLst/>
          </a:prstGeom>
          <a:noFill/>
          <a:ln/>
        </p:spPr>
        <p:txBody>
          <a:bodyPr wrap="square" rtlCol="0" anchor="ctr"/>
          <a:lstStyle/>
          <a:p>
            <a:pPr marL="0" indent="0" algn="ctr">
              <a:buNone/>
            </a:pPr>
            <a:r>
              <a:rPr lang="en-US" sz="2600" b="1" dirty="0">
                <a:solidFill>
                  <a:srgbClr val="F5C842"/>
                </a:solidFill>
                <a:latin typeface="Georgia" pitchFamily="34" charset="0"/>
                <a:ea typeface="Georgia" pitchFamily="34" charset="-122"/>
                <a:cs typeface="Georgia" pitchFamily="34" charset="-120"/>
              </a:rPr>
              <a:t>KEY PERFORMANCE INDICATORS</a:t>
            </a:r>
            <a:endParaRPr lang="en-US" sz="2600" dirty="0"/>
          </a:p>
        </p:txBody>
      </p:sp>
      <p:sp>
        <p:nvSpPr>
          <p:cNvPr id="4" name="Shape 2"/>
          <p:cNvSpPr/>
          <p:nvPr/>
        </p:nvSpPr>
        <p:spPr>
          <a:xfrm>
            <a:off x="365760" y="868680"/>
            <a:ext cx="2651760" cy="1691640"/>
          </a:xfrm>
          <a:prstGeom prst="rect">
            <a:avLst/>
          </a:prstGeom>
          <a:solidFill>
            <a:srgbClr val="26264A"/>
          </a:solidFill>
          <a:ln w="19050">
            <a:solidFill>
              <a:srgbClr val="D4A017"/>
            </a:solidFill>
            <a:prstDash val="solid"/>
          </a:ln>
        </p:spPr>
        <p:txBody>
          <a:bodyPr/>
          <a:lstStyle/>
          <a:p>
            <a:endParaRPr lang="en-US"/>
          </a:p>
        </p:txBody>
      </p:sp>
      <p:sp>
        <p:nvSpPr>
          <p:cNvPr id="5" name="Text 3"/>
          <p:cNvSpPr/>
          <p:nvPr/>
        </p:nvSpPr>
        <p:spPr>
          <a:xfrm>
            <a:off x="365760" y="960120"/>
            <a:ext cx="2651760" cy="457200"/>
          </a:xfrm>
          <a:prstGeom prst="rect">
            <a:avLst/>
          </a:prstGeom>
          <a:noFill/>
          <a:ln/>
        </p:spPr>
        <p:txBody>
          <a:bodyPr wrap="square" rtlCol="0" anchor="ctr"/>
          <a:lstStyle/>
          <a:p>
            <a:pPr marL="0" indent="0" algn="ctr">
              <a:buNone/>
            </a:pPr>
            <a:r>
              <a:rPr lang="en-US" sz="2200" dirty="0">
                <a:solidFill>
                  <a:srgbClr val="000000"/>
                </a:solidFill>
              </a:rPr>
              <a:t>💰</a:t>
            </a:r>
            <a:endParaRPr lang="en-US" sz="2200" dirty="0"/>
          </a:p>
        </p:txBody>
      </p:sp>
      <p:sp>
        <p:nvSpPr>
          <p:cNvPr id="6" name="Text 4"/>
          <p:cNvSpPr/>
          <p:nvPr/>
        </p:nvSpPr>
        <p:spPr>
          <a:xfrm>
            <a:off x="365760" y="1371600"/>
            <a:ext cx="2651760" cy="502920"/>
          </a:xfrm>
          <a:prstGeom prst="rect">
            <a:avLst/>
          </a:prstGeom>
          <a:noFill/>
          <a:ln/>
        </p:spPr>
        <p:txBody>
          <a:bodyPr wrap="square" rtlCol="0" anchor="ctr"/>
          <a:lstStyle/>
          <a:p>
            <a:pPr marL="0" indent="0" algn="ctr">
              <a:buNone/>
            </a:pPr>
            <a:r>
              <a:rPr lang="en-US" sz="2200" b="1" dirty="0">
                <a:solidFill>
                  <a:srgbClr val="F5C842"/>
                </a:solidFill>
                <a:latin typeface="Georgia" pitchFamily="34" charset="0"/>
                <a:ea typeface="Georgia" pitchFamily="34" charset="-122"/>
                <a:cs typeface="Georgia" pitchFamily="34" charset="-120"/>
              </a:rPr>
              <a:t>₹2.04K Cr</a:t>
            </a:r>
            <a:endParaRPr lang="en-US" sz="2200" dirty="0"/>
          </a:p>
        </p:txBody>
      </p:sp>
      <p:sp>
        <p:nvSpPr>
          <p:cNvPr id="7" name="Text 5"/>
          <p:cNvSpPr/>
          <p:nvPr/>
        </p:nvSpPr>
        <p:spPr>
          <a:xfrm>
            <a:off x="365760" y="1828800"/>
            <a:ext cx="2651760" cy="27432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Total Spend</a:t>
            </a:r>
            <a:endParaRPr lang="en-US" sz="1200" dirty="0"/>
          </a:p>
        </p:txBody>
      </p:sp>
      <p:sp>
        <p:nvSpPr>
          <p:cNvPr id="8" name="Text 6"/>
          <p:cNvSpPr/>
          <p:nvPr/>
        </p:nvSpPr>
        <p:spPr>
          <a:xfrm>
            <a:off x="365760" y="2130552"/>
            <a:ext cx="2651760" cy="274320"/>
          </a:xfrm>
          <a:prstGeom prst="rect">
            <a:avLst/>
          </a:prstGeom>
          <a:noFill/>
          <a:ln/>
        </p:spPr>
        <p:txBody>
          <a:bodyPr wrap="square" rtlCol="0" anchor="ctr"/>
          <a:lstStyle/>
          <a:p>
            <a:pPr marL="0" indent="0" algn="ctr">
              <a:buNone/>
            </a:pPr>
            <a:r>
              <a:rPr lang="en-US" sz="1000" dirty="0">
                <a:solidFill>
                  <a:srgbClr val="B0B0B0"/>
                </a:solidFill>
                <a:latin typeface="Calibri" pitchFamily="34" charset="0"/>
                <a:ea typeface="Calibri" pitchFamily="34" charset="-122"/>
                <a:cs typeface="Calibri" pitchFamily="34" charset="-120"/>
              </a:rPr>
              <a:t>Across all seasons</a:t>
            </a:r>
            <a:endParaRPr lang="en-US" sz="1000" dirty="0"/>
          </a:p>
        </p:txBody>
      </p:sp>
      <p:sp>
        <p:nvSpPr>
          <p:cNvPr id="9" name="Shape 7"/>
          <p:cNvSpPr/>
          <p:nvPr/>
        </p:nvSpPr>
        <p:spPr>
          <a:xfrm>
            <a:off x="3200400" y="868680"/>
            <a:ext cx="2651760" cy="1691640"/>
          </a:xfrm>
          <a:prstGeom prst="rect">
            <a:avLst/>
          </a:prstGeom>
          <a:solidFill>
            <a:srgbClr val="26264A"/>
          </a:solidFill>
          <a:ln w="19050">
            <a:solidFill>
              <a:srgbClr val="D4A017"/>
            </a:solidFill>
            <a:prstDash val="solid"/>
          </a:ln>
        </p:spPr>
        <p:txBody>
          <a:bodyPr/>
          <a:lstStyle/>
          <a:p>
            <a:endParaRPr lang="en-US"/>
          </a:p>
        </p:txBody>
      </p:sp>
      <p:sp>
        <p:nvSpPr>
          <p:cNvPr id="10" name="Text 8"/>
          <p:cNvSpPr/>
          <p:nvPr/>
        </p:nvSpPr>
        <p:spPr>
          <a:xfrm>
            <a:off x="3200400" y="960120"/>
            <a:ext cx="2651760" cy="457200"/>
          </a:xfrm>
          <a:prstGeom prst="rect">
            <a:avLst/>
          </a:prstGeom>
          <a:noFill/>
          <a:ln/>
        </p:spPr>
        <p:txBody>
          <a:bodyPr wrap="square" rtlCol="0" anchor="ctr"/>
          <a:lstStyle/>
          <a:p>
            <a:pPr marL="0" indent="0" algn="ctr">
              <a:buNone/>
            </a:pPr>
            <a:r>
              <a:rPr lang="en-US" sz="2200" dirty="0">
                <a:solidFill>
                  <a:srgbClr val="000000"/>
                </a:solidFill>
              </a:rPr>
              <a:t>🏏</a:t>
            </a:r>
            <a:endParaRPr lang="en-US" sz="2200" dirty="0"/>
          </a:p>
        </p:txBody>
      </p:sp>
      <p:sp>
        <p:nvSpPr>
          <p:cNvPr id="11" name="Text 9"/>
          <p:cNvSpPr/>
          <p:nvPr/>
        </p:nvSpPr>
        <p:spPr>
          <a:xfrm>
            <a:off x="3200400" y="1371600"/>
            <a:ext cx="2651760" cy="502920"/>
          </a:xfrm>
          <a:prstGeom prst="rect">
            <a:avLst/>
          </a:prstGeom>
          <a:noFill/>
          <a:ln/>
        </p:spPr>
        <p:txBody>
          <a:bodyPr wrap="square" rtlCol="0" anchor="ctr"/>
          <a:lstStyle/>
          <a:p>
            <a:pPr marL="0" indent="0" algn="ctr">
              <a:buNone/>
            </a:pPr>
            <a:r>
              <a:rPr lang="en-US" sz="2200" b="1" dirty="0">
                <a:solidFill>
                  <a:srgbClr val="F5C842"/>
                </a:solidFill>
                <a:latin typeface="Georgia" pitchFamily="34" charset="0"/>
                <a:ea typeface="Georgia" pitchFamily="34" charset="-122"/>
                <a:cs typeface="Georgia" pitchFamily="34" charset="-120"/>
              </a:rPr>
              <a:t>543</a:t>
            </a:r>
            <a:endParaRPr lang="en-US" sz="2200" dirty="0"/>
          </a:p>
        </p:txBody>
      </p:sp>
      <p:sp>
        <p:nvSpPr>
          <p:cNvPr id="12" name="Text 10"/>
          <p:cNvSpPr/>
          <p:nvPr/>
        </p:nvSpPr>
        <p:spPr>
          <a:xfrm>
            <a:off x="3200400" y="1828800"/>
            <a:ext cx="2651760" cy="27432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Total Players</a:t>
            </a:r>
            <a:endParaRPr lang="en-US" sz="1200" dirty="0"/>
          </a:p>
        </p:txBody>
      </p:sp>
      <p:sp>
        <p:nvSpPr>
          <p:cNvPr id="13" name="Text 11"/>
          <p:cNvSpPr/>
          <p:nvPr/>
        </p:nvSpPr>
        <p:spPr>
          <a:xfrm>
            <a:off x="3200400" y="2130552"/>
            <a:ext cx="2651760" cy="274320"/>
          </a:xfrm>
          <a:prstGeom prst="rect">
            <a:avLst/>
          </a:prstGeom>
          <a:noFill/>
          <a:ln/>
        </p:spPr>
        <p:txBody>
          <a:bodyPr wrap="square" rtlCol="0" anchor="ctr"/>
          <a:lstStyle/>
          <a:p>
            <a:pPr marL="0" indent="0" algn="ctr">
              <a:buNone/>
            </a:pPr>
            <a:r>
              <a:rPr lang="en-US" sz="1000" dirty="0">
                <a:solidFill>
                  <a:srgbClr val="B0B0B0"/>
                </a:solidFill>
                <a:latin typeface="Calibri" pitchFamily="34" charset="0"/>
                <a:ea typeface="Calibri" pitchFamily="34" charset="-122"/>
                <a:cs typeface="Calibri" pitchFamily="34" charset="-120"/>
              </a:rPr>
              <a:t>Auctioned 2013–2022</a:t>
            </a:r>
            <a:endParaRPr lang="en-US" sz="1000" dirty="0"/>
          </a:p>
        </p:txBody>
      </p:sp>
      <p:sp>
        <p:nvSpPr>
          <p:cNvPr id="14" name="Shape 12"/>
          <p:cNvSpPr/>
          <p:nvPr/>
        </p:nvSpPr>
        <p:spPr>
          <a:xfrm>
            <a:off x="6035040" y="868680"/>
            <a:ext cx="2651760" cy="1691640"/>
          </a:xfrm>
          <a:prstGeom prst="rect">
            <a:avLst/>
          </a:prstGeom>
          <a:solidFill>
            <a:srgbClr val="26264A"/>
          </a:solidFill>
          <a:ln w="19050">
            <a:solidFill>
              <a:srgbClr val="D4A017"/>
            </a:solidFill>
            <a:prstDash val="solid"/>
          </a:ln>
        </p:spPr>
        <p:txBody>
          <a:bodyPr/>
          <a:lstStyle/>
          <a:p>
            <a:endParaRPr lang="en-US"/>
          </a:p>
        </p:txBody>
      </p:sp>
      <p:sp>
        <p:nvSpPr>
          <p:cNvPr id="15" name="Text 13"/>
          <p:cNvSpPr/>
          <p:nvPr/>
        </p:nvSpPr>
        <p:spPr>
          <a:xfrm>
            <a:off x="6035040" y="960120"/>
            <a:ext cx="2651760" cy="457200"/>
          </a:xfrm>
          <a:prstGeom prst="rect">
            <a:avLst/>
          </a:prstGeom>
          <a:noFill/>
          <a:ln/>
        </p:spPr>
        <p:txBody>
          <a:bodyPr wrap="square" rtlCol="0" anchor="ctr"/>
          <a:lstStyle/>
          <a:p>
            <a:pPr marL="0" indent="0" algn="ctr">
              <a:buNone/>
            </a:pPr>
            <a:r>
              <a:rPr lang="en-US" sz="2200" dirty="0">
                <a:solidFill>
                  <a:srgbClr val="000000"/>
                </a:solidFill>
              </a:rPr>
              <a:t>📊</a:t>
            </a:r>
            <a:endParaRPr lang="en-US" sz="2200" dirty="0"/>
          </a:p>
        </p:txBody>
      </p:sp>
      <p:sp>
        <p:nvSpPr>
          <p:cNvPr id="16" name="Text 14"/>
          <p:cNvSpPr/>
          <p:nvPr/>
        </p:nvSpPr>
        <p:spPr>
          <a:xfrm>
            <a:off x="6035040" y="1371600"/>
            <a:ext cx="2651760" cy="502920"/>
          </a:xfrm>
          <a:prstGeom prst="rect">
            <a:avLst/>
          </a:prstGeom>
          <a:noFill/>
          <a:ln/>
        </p:spPr>
        <p:txBody>
          <a:bodyPr wrap="square" rtlCol="0" anchor="ctr"/>
          <a:lstStyle/>
          <a:p>
            <a:pPr marL="0" indent="0" algn="ctr">
              <a:buNone/>
            </a:pPr>
            <a:r>
              <a:rPr lang="en-US" sz="2200" b="1" dirty="0">
                <a:solidFill>
                  <a:srgbClr val="F5C842"/>
                </a:solidFill>
                <a:latin typeface="Georgia" pitchFamily="34" charset="0"/>
                <a:ea typeface="Georgia" pitchFamily="34" charset="-122"/>
                <a:cs typeface="Georgia" pitchFamily="34" charset="-120"/>
              </a:rPr>
              <a:t>₹2.11 Cr</a:t>
            </a:r>
            <a:endParaRPr lang="en-US" sz="2200" dirty="0"/>
          </a:p>
        </p:txBody>
      </p:sp>
      <p:sp>
        <p:nvSpPr>
          <p:cNvPr id="17" name="Text 15"/>
          <p:cNvSpPr/>
          <p:nvPr/>
        </p:nvSpPr>
        <p:spPr>
          <a:xfrm>
            <a:off x="6035040" y="1828800"/>
            <a:ext cx="2651760" cy="27432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Avg Bid Price</a:t>
            </a:r>
            <a:endParaRPr lang="en-US" sz="1200" dirty="0"/>
          </a:p>
        </p:txBody>
      </p:sp>
      <p:sp>
        <p:nvSpPr>
          <p:cNvPr id="18" name="Text 16"/>
          <p:cNvSpPr/>
          <p:nvPr/>
        </p:nvSpPr>
        <p:spPr>
          <a:xfrm>
            <a:off x="6035040" y="2130552"/>
            <a:ext cx="2651760" cy="274320"/>
          </a:xfrm>
          <a:prstGeom prst="rect">
            <a:avLst/>
          </a:prstGeom>
          <a:noFill/>
          <a:ln/>
        </p:spPr>
        <p:txBody>
          <a:bodyPr wrap="square" rtlCol="0" anchor="ctr"/>
          <a:lstStyle/>
          <a:p>
            <a:pPr marL="0" indent="0" algn="ctr">
              <a:buNone/>
            </a:pPr>
            <a:r>
              <a:rPr lang="en-US" sz="1000" dirty="0">
                <a:solidFill>
                  <a:srgbClr val="B0B0B0"/>
                </a:solidFill>
                <a:latin typeface="Calibri" pitchFamily="34" charset="0"/>
                <a:ea typeface="Calibri" pitchFamily="34" charset="-122"/>
                <a:cs typeface="Calibri" pitchFamily="34" charset="-120"/>
              </a:rPr>
              <a:t>Per player average</a:t>
            </a:r>
            <a:endParaRPr lang="en-US" sz="1000" dirty="0"/>
          </a:p>
        </p:txBody>
      </p:sp>
      <p:sp>
        <p:nvSpPr>
          <p:cNvPr id="19" name="Shape 17"/>
          <p:cNvSpPr/>
          <p:nvPr/>
        </p:nvSpPr>
        <p:spPr>
          <a:xfrm>
            <a:off x="365760" y="2788920"/>
            <a:ext cx="2651760" cy="1691640"/>
          </a:xfrm>
          <a:prstGeom prst="rect">
            <a:avLst/>
          </a:prstGeom>
          <a:solidFill>
            <a:srgbClr val="26264A"/>
          </a:solidFill>
          <a:ln w="19050">
            <a:solidFill>
              <a:srgbClr val="D4A017"/>
            </a:solidFill>
            <a:prstDash val="solid"/>
          </a:ln>
        </p:spPr>
        <p:txBody>
          <a:bodyPr/>
          <a:lstStyle/>
          <a:p>
            <a:endParaRPr lang="en-US"/>
          </a:p>
        </p:txBody>
      </p:sp>
      <p:sp>
        <p:nvSpPr>
          <p:cNvPr id="20" name="Text 18"/>
          <p:cNvSpPr/>
          <p:nvPr/>
        </p:nvSpPr>
        <p:spPr>
          <a:xfrm>
            <a:off x="365760" y="2880360"/>
            <a:ext cx="2651760" cy="457200"/>
          </a:xfrm>
          <a:prstGeom prst="rect">
            <a:avLst/>
          </a:prstGeom>
          <a:noFill/>
          <a:ln/>
        </p:spPr>
        <p:txBody>
          <a:bodyPr wrap="square" rtlCol="0" anchor="ctr"/>
          <a:lstStyle/>
          <a:p>
            <a:pPr marL="0" indent="0" algn="ctr">
              <a:buNone/>
            </a:pPr>
            <a:r>
              <a:rPr lang="en-US" sz="2200" dirty="0">
                <a:solidFill>
                  <a:srgbClr val="000000"/>
                </a:solidFill>
              </a:rPr>
              <a:t>🗓️</a:t>
            </a:r>
            <a:endParaRPr lang="en-US" sz="2200" dirty="0"/>
          </a:p>
        </p:txBody>
      </p:sp>
      <p:sp>
        <p:nvSpPr>
          <p:cNvPr id="21" name="Text 19"/>
          <p:cNvSpPr/>
          <p:nvPr/>
        </p:nvSpPr>
        <p:spPr>
          <a:xfrm>
            <a:off x="365760" y="3291840"/>
            <a:ext cx="2651760" cy="502920"/>
          </a:xfrm>
          <a:prstGeom prst="rect">
            <a:avLst/>
          </a:prstGeom>
          <a:noFill/>
          <a:ln/>
        </p:spPr>
        <p:txBody>
          <a:bodyPr wrap="square" rtlCol="0" anchor="ctr"/>
          <a:lstStyle/>
          <a:p>
            <a:pPr marL="0" indent="0" algn="ctr">
              <a:buNone/>
            </a:pPr>
            <a:r>
              <a:rPr lang="en-US" sz="2200" b="1" dirty="0">
                <a:solidFill>
                  <a:srgbClr val="F5C842"/>
                </a:solidFill>
                <a:latin typeface="Georgia" pitchFamily="34" charset="0"/>
                <a:ea typeface="Georgia" pitchFamily="34" charset="-122"/>
                <a:cs typeface="Georgia" pitchFamily="34" charset="-120"/>
              </a:rPr>
              <a:t>10</a:t>
            </a:r>
            <a:endParaRPr lang="en-US" sz="2200" dirty="0"/>
          </a:p>
        </p:txBody>
      </p:sp>
      <p:sp>
        <p:nvSpPr>
          <p:cNvPr id="22" name="Text 20"/>
          <p:cNvSpPr/>
          <p:nvPr/>
        </p:nvSpPr>
        <p:spPr>
          <a:xfrm>
            <a:off x="365760" y="3749040"/>
            <a:ext cx="2651760" cy="27432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Total Auctions</a:t>
            </a:r>
            <a:endParaRPr lang="en-US" sz="1200" dirty="0"/>
          </a:p>
        </p:txBody>
      </p:sp>
      <p:sp>
        <p:nvSpPr>
          <p:cNvPr id="23" name="Text 21"/>
          <p:cNvSpPr/>
          <p:nvPr/>
        </p:nvSpPr>
        <p:spPr>
          <a:xfrm>
            <a:off x="365760" y="4050792"/>
            <a:ext cx="2651760" cy="274320"/>
          </a:xfrm>
          <a:prstGeom prst="rect">
            <a:avLst/>
          </a:prstGeom>
          <a:noFill/>
          <a:ln/>
        </p:spPr>
        <p:txBody>
          <a:bodyPr wrap="square" rtlCol="0" anchor="ctr"/>
          <a:lstStyle/>
          <a:p>
            <a:pPr marL="0" indent="0" algn="ctr">
              <a:buNone/>
            </a:pPr>
            <a:r>
              <a:rPr lang="en-US" sz="1000" dirty="0">
                <a:solidFill>
                  <a:srgbClr val="B0B0B0"/>
                </a:solidFill>
                <a:latin typeface="Calibri" pitchFamily="34" charset="0"/>
                <a:ea typeface="Calibri" pitchFamily="34" charset="-122"/>
                <a:cs typeface="Calibri" pitchFamily="34" charset="-120"/>
              </a:rPr>
              <a:t>Season coverage</a:t>
            </a:r>
            <a:endParaRPr lang="en-US" sz="1000" dirty="0"/>
          </a:p>
        </p:txBody>
      </p:sp>
      <p:sp>
        <p:nvSpPr>
          <p:cNvPr id="24" name="Shape 22"/>
          <p:cNvSpPr/>
          <p:nvPr/>
        </p:nvSpPr>
        <p:spPr>
          <a:xfrm>
            <a:off x="3200400" y="2788920"/>
            <a:ext cx="2651760" cy="1691640"/>
          </a:xfrm>
          <a:prstGeom prst="rect">
            <a:avLst/>
          </a:prstGeom>
          <a:solidFill>
            <a:srgbClr val="26264A"/>
          </a:solidFill>
          <a:ln w="19050">
            <a:solidFill>
              <a:srgbClr val="D4A017"/>
            </a:solidFill>
            <a:prstDash val="solid"/>
          </a:ln>
        </p:spPr>
        <p:txBody>
          <a:bodyPr/>
          <a:lstStyle/>
          <a:p>
            <a:endParaRPr lang="en-US"/>
          </a:p>
        </p:txBody>
      </p:sp>
      <p:sp>
        <p:nvSpPr>
          <p:cNvPr id="25" name="Text 23"/>
          <p:cNvSpPr/>
          <p:nvPr/>
        </p:nvSpPr>
        <p:spPr>
          <a:xfrm>
            <a:off x="3200400" y="2880360"/>
            <a:ext cx="2651760" cy="457200"/>
          </a:xfrm>
          <a:prstGeom prst="rect">
            <a:avLst/>
          </a:prstGeom>
          <a:noFill/>
          <a:ln/>
        </p:spPr>
        <p:txBody>
          <a:bodyPr wrap="square" rtlCol="0" anchor="ctr"/>
          <a:lstStyle/>
          <a:p>
            <a:pPr marL="0" indent="0" algn="ctr">
              <a:buNone/>
            </a:pPr>
            <a:r>
              <a:rPr lang="en-US" sz="2200" dirty="0">
                <a:solidFill>
                  <a:srgbClr val="000000"/>
                </a:solidFill>
              </a:rPr>
              <a:t>🥇</a:t>
            </a:r>
            <a:endParaRPr lang="en-US" sz="2200" dirty="0"/>
          </a:p>
        </p:txBody>
      </p:sp>
      <p:sp>
        <p:nvSpPr>
          <p:cNvPr id="26" name="Text 24"/>
          <p:cNvSpPr/>
          <p:nvPr/>
        </p:nvSpPr>
        <p:spPr>
          <a:xfrm>
            <a:off x="3200400" y="3291840"/>
            <a:ext cx="2651760" cy="502920"/>
          </a:xfrm>
          <a:prstGeom prst="rect">
            <a:avLst/>
          </a:prstGeom>
          <a:noFill/>
          <a:ln/>
        </p:spPr>
        <p:txBody>
          <a:bodyPr wrap="square" rtlCol="0" anchor="ctr"/>
          <a:lstStyle/>
          <a:p>
            <a:pPr marL="0" indent="0" algn="ctr">
              <a:buNone/>
            </a:pPr>
            <a:r>
              <a:rPr lang="en-US" sz="2200" b="1" dirty="0">
                <a:solidFill>
                  <a:srgbClr val="F5C842"/>
                </a:solidFill>
                <a:latin typeface="Georgia" pitchFamily="34" charset="0"/>
                <a:ea typeface="Georgia" pitchFamily="34" charset="-122"/>
                <a:cs typeface="Georgia" pitchFamily="34" charset="-120"/>
              </a:rPr>
              <a:t>₹16.25 Cr</a:t>
            </a:r>
            <a:endParaRPr lang="en-US" sz="2200" dirty="0"/>
          </a:p>
        </p:txBody>
      </p:sp>
      <p:sp>
        <p:nvSpPr>
          <p:cNvPr id="27" name="Text 25"/>
          <p:cNvSpPr/>
          <p:nvPr/>
        </p:nvSpPr>
        <p:spPr>
          <a:xfrm>
            <a:off x="3200400" y="3749040"/>
            <a:ext cx="2651760" cy="27432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Max Single Bid</a:t>
            </a:r>
            <a:endParaRPr lang="en-US" sz="1200" dirty="0"/>
          </a:p>
        </p:txBody>
      </p:sp>
      <p:sp>
        <p:nvSpPr>
          <p:cNvPr id="28" name="Text 26"/>
          <p:cNvSpPr/>
          <p:nvPr/>
        </p:nvSpPr>
        <p:spPr>
          <a:xfrm>
            <a:off x="3200400" y="4050792"/>
            <a:ext cx="2651760" cy="274320"/>
          </a:xfrm>
          <a:prstGeom prst="rect">
            <a:avLst/>
          </a:prstGeom>
          <a:noFill/>
          <a:ln/>
        </p:spPr>
        <p:txBody>
          <a:bodyPr wrap="square" rtlCol="0" anchor="ctr"/>
          <a:lstStyle/>
          <a:p>
            <a:pPr marL="0" indent="0" algn="ctr">
              <a:buNone/>
            </a:pPr>
            <a:r>
              <a:rPr lang="en-US" sz="1000" dirty="0">
                <a:solidFill>
                  <a:srgbClr val="B0B0B0"/>
                </a:solidFill>
                <a:latin typeface="Calibri" pitchFamily="34" charset="0"/>
                <a:ea typeface="Calibri" pitchFamily="34" charset="-122"/>
                <a:cs typeface="Calibri" pitchFamily="34" charset="-120"/>
              </a:rPr>
              <a:t>Christopher Morris</a:t>
            </a:r>
            <a:endParaRPr lang="en-US" sz="1000" dirty="0"/>
          </a:p>
        </p:txBody>
      </p:sp>
      <p:sp>
        <p:nvSpPr>
          <p:cNvPr id="29" name="Shape 27"/>
          <p:cNvSpPr/>
          <p:nvPr/>
        </p:nvSpPr>
        <p:spPr>
          <a:xfrm>
            <a:off x="6035040" y="2788920"/>
            <a:ext cx="2651760" cy="1691640"/>
          </a:xfrm>
          <a:prstGeom prst="rect">
            <a:avLst/>
          </a:prstGeom>
          <a:solidFill>
            <a:srgbClr val="26264A"/>
          </a:solidFill>
          <a:ln w="19050">
            <a:solidFill>
              <a:srgbClr val="D4A017"/>
            </a:solidFill>
            <a:prstDash val="solid"/>
          </a:ln>
        </p:spPr>
        <p:txBody>
          <a:bodyPr/>
          <a:lstStyle/>
          <a:p>
            <a:endParaRPr lang="en-US"/>
          </a:p>
        </p:txBody>
      </p:sp>
      <p:sp>
        <p:nvSpPr>
          <p:cNvPr id="30" name="Text 28"/>
          <p:cNvSpPr/>
          <p:nvPr/>
        </p:nvSpPr>
        <p:spPr>
          <a:xfrm>
            <a:off x="6035040" y="2880360"/>
            <a:ext cx="2651760" cy="457200"/>
          </a:xfrm>
          <a:prstGeom prst="rect">
            <a:avLst/>
          </a:prstGeom>
          <a:noFill/>
          <a:ln/>
        </p:spPr>
        <p:txBody>
          <a:bodyPr wrap="square" rtlCol="0" anchor="ctr"/>
          <a:lstStyle/>
          <a:p>
            <a:pPr marL="0" indent="0" algn="ctr">
              <a:buNone/>
            </a:pPr>
            <a:r>
              <a:rPr lang="en-US" sz="2200" dirty="0">
                <a:solidFill>
                  <a:srgbClr val="000000"/>
                </a:solidFill>
              </a:rPr>
              <a:t>🌍</a:t>
            </a:r>
            <a:endParaRPr lang="en-US" sz="2200" dirty="0"/>
          </a:p>
        </p:txBody>
      </p:sp>
      <p:sp>
        <p:nvSpPr>
          <p:cNvPr id="31" name="Text 29"/>
          <p:cNvSpPr/>
          <p:nvPr/>
        </p:nvSpPr>
        <p:spPr>
          <a:xfrm>
            <a:off x="6035040" y="3291840"/>
            <a:ext cx="2651760" cy="502920"/>
          </a:xfrm>
          <a:prstGeom prst="rect">
            <a:avLst/>
          </a:prstGeom>
          <a:noFill/>
          <a:ln/>
        </p:spPr>
        <p:txBody>
          <a:bodyPr wrap="square" rtlCol="0" anchor="ctr"/>
          <a:lstStyle/>
          <a:p>
            <a:pPr marL="0" indent="0" algn="ctr">
              <a:buNone/>
            </a:pPr>
            <a:r>
              <a:rPr lang="en-US" sz="2200" b="1" dirty="0">
                <a:solidFill>
                  <a:srgbClr val="F5C842"/>
                </a:solidFill>
                <a:latin typeface="Georgia" pitchFamily="34" charset="0"/>
                <a:ea typeface="Georgia" pitchFamily="34" charset="-122"/>
                <a:cs typeface="Georgia" pitchFamily="34" charset="-120"/>
              </a:rPr>
              <a:t>36.21%</a:t>
            </a:r>
            <a:endParaRPr lang="en-US" sz="2200" dirty="0"/>
          </a:p>
        </p:txBody>
      </p:sp>
      <p:sp>
        <p:nvSpPr>
          <p:cNvPr id="32" name="Text 30"/>
          <p:cNvSpPr/>
          <p:nvPr/>
        </p:nvSpPr>
        <p:spPr>
          <a:xfrm>
            <a:off x="6035040" y="3749040"/>
            <a:ext cx="2651760" cy="27432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Overseas Players</a:t>
            </a:r>
            <a:endParaRPr lang="en-US" sz="1200" dirty="0"/>
          </a:p>
        </p:txBody>
      </p:sp>
      <p:sp>
        <p:nvSpPr>
          <p:cNvPr id="33" name="Text 31"/>
          <p:cNvSpPr/>
          <p:nvPr/>
        </p:nvSpPr>
        <p:spPr>
          <a:xfrm>
            <a:off x="6035040" y="4050792"/>
            <a:ext cx="2651760" cy="274320"/>
          </a:xfrm>
          <a:prstGeom prst="rect">
            <a:avLst/>
          </a:prstGeom>
          <a:noFill/>
          <a:ln/>
        </p:spPr>
        <p:txBody>
          <a:bodyPr wrap="square" rtlCol="0" anchor="ctr"/>
          <a:lstStyle/>
          <a:p>
            <a:pPr marL="0" indent="0" algn="ctr">
              <a:buNone/>
            </a:pPr>
            <a:r>
              <a:rPr lang="en-US" sz="1000" dirty="0">
                <a:solidFill>
                  <a:srgbClr val="B0B0B0"/>
                </a:solidFill>
                <a:latin typeface="Calibri" pitchFamily="34" charset="0"/>
                <a:ea typeface="Calibri" pitchFamily="34" charset="-122"/>
                <a:cs typeface="Calibri" pitchFamily="34" charset="-120"/>
              </a:rPr>
              <a:t>197 overseas players</a:t>
            </a:r>
            <a:endParaRPr lang="en-US" sz="1000" dirty="0"/>
          </a:p>
        </p:txBody>
      </p:sp>
      <p:sp>
        <p:nvSpPr>
          <p:cNvPr id="34" name="Shape 32"/>
          <p:cNvSpPr/>
          <p:nvPr/>
        </p:nvSpPr>
        <p:spPr>
          <a:xfrm>
            <a:off x="0" y="5033772"/>
            <a:ext cx="9144000" cy="109728"/>
          </a:xfrm>
          <a:prstGeom prst="rect">
            <a:avLst/>
          </a:prstGeom>
          <a:solidFill>
            <a:srgbClr val="D4A017"/>
          </a:solidFill>
          <a:ln w="12700">
            <a:solidFill>
              <a:srgbClr val="D4A017"/>
            </a:solidFill>
            <a:prstDash val="solid"/>
          </a:ln>
        </p:spPr>
        <p:txBody>
          <a:bodyPr/>
          <a:lstStyle/>
          <a:p>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A1A2E"/>
        </a:solidFill>
        <a:effectLst/>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D4A017"/>
          </a:solidFill>
          <a:ln w="12700">
            <a:solidFill>
              <a:srgbClr val="D4A017"/>
            </a:solidFill>
            <a:prstDash val="solid"/>
          </a:ln>
        </p:spPr>
        <p:txBody>
          <a:bodyPr/>
          <a:lstStyle/>
          <a:p>
            <a:endParaRPr lang="en-US"/>
          </a:p>
        </p:txBody>
      </p:sp>
      <p:sp>
        <p:nvSpPr>
          <p:cNvPr id="3" name="Text 1"/>
          <p:cNvSpPr/>
          <p:nvPr/>
        </p:nvSpPr>
        <p:spPr>
          <a:xfrm>
            <a:off x="274320" y="182880"/>
            <a:ext cx="8595360" cy="502920"/>
          </a:xfrm>
          <a:prstGeom prst="rect">
            <a:avLst/>
          </a:prstGeom>
          <a:noFill/>
          <a:ln/>
        </p:spPr>
        <p:txBody>
          <a:bodyPr wrap="square" rtlCol="0" anchor="ctr"/>
          <a:lstStyle/>
          <a:p>
            <a:pPr marL="0" indent="0" algn="ctr">
              <a:buNone/>
            </a:pPr>
            <a:r>
              <a:rPr lang="en-US" sz="2400" b="1" dirty="0">
                <a:solidFill>
                  <a:srgbClr val="F5C842"/>
                </a:solidFill>
                <a:latin typeface="Georgia" pitchFamily="34" charset="0"/>
                <a:ea typeface="Georgia" pitchFamily="34" charset="-122"/>
                <a:cs typeface="Georgia" pitchFamily="34" charset="-120"/>
              </a:rPr>
              <a:t>PLAYER ANALYTICS DASHBOARD</a:t>
            </a:r>
            <a:endParaRPr lang="en-US" sz="2400" dirty="0"/>
          </a:p>
        </p:txBody>
      </p:sp>
      <p:sp>
        <p:nvSpPr>
          <p:cNvPr id="5" name="Shape 2"/>
          <p:cNvSpPr/>
          <p:nvPr/>
        </p:nvSpPr>
        <p:spPr>
          <a:xfrm>
            <a:off x="0" y="5033772"/>
            <a:ext cx="9144000" cy="109728"/>
          </a:xfrm>
          <a:prstGeom prst="rect">
            <a:avLst/>
          </a:prstGeom>
          <a:solidFill>
            <a:srgbClr val="D4A017"/>
          </a:solidFill>
          <a:ln w="12700">
            <a:solidFill>
              <a:srgbClr val="D4A017"/>
            </a:solidFill>
            <a:prstDash val="solid"/>
          </a:ln>
        </p:spPr>
        <p:txBody>
          <a:bodyPr/>
          <a:lstStyle/>
          <a:p>
            <a:endParaRPr lang="en-US"/>
          </a:p>
        </p:txBody>
      </p:sp>
      <p:pic>
        <p:nvPicPr>
          <p:cNvPr id="7" name="Picture 6">
            <a:extLst>
              <a:ext uri="{FF2B5EF4-FFF2-40B4-BE49-F238E27FC236}">
                <a16:creationId xmlns:a16="http://schemas.microsoft.com/office/drawing/2014/main" id="{9FA5EA20-BD47-A64A-ED72-E32C8EA35162}"/>
              </a:ext>
            </a:extLst>
          </p:cNvPr>
          <p:cNvPicPr>
            <a:picLocks noChangeAspect="1"/>
          </p:cNvPicPr>
          <p:nvPr/>
        </p:nvPicPr>
        <p:blipFill>
          <a:blip r:embed="rId3"/>
          <a:stretch>
            <a:fillRect/>
          </a:stretch>
        </p:blipFill>
        <p:spPr>
          <a:xfrm>
            <a:off x="274320" y="538081"/>
            <a:ext cx="8327322" cy="4495691"/>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A1A2E"/>
        </a:solidFill>
        <a:effectLst/>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D4A017"/>
          </a:solidFill>
          <a:ln w="12700">
            <a:solidFill>
              <a:srgbClr val="D4A017"/>
            </a:solidFill>
            <a:prstDash val="solid"/>
          </a:ln>
        </p:spPr>
        <p:txBody>
          <a:bodyPr/>
          <a:lstStyle/>
          <a:p>
            <a:endParaRPr lang="en-US"/>
          </a:p>
        </p:txBody>
      </p:sp>
      <p:sp>
        <p:nvSpPr>
          <p:cNvPr id="3" name="Text 1"/>
          <p:cNvSpPr/>
          <p:nvPr/>
        </p:nvSpPr>
        <p:spPr>
          <a:xfrm>
            <a:off x="457200" y="182880"/>
            <a:ext cx="8229600" cy="502920"/>
          </a:xfrm>
          <a:prstGeom prst="rect">
            <a:avLst/>
          </a:prstGeom>
          <a:noFill/>
          <a:ln/>
        </p:spPr>
        <p:txBody>
          <a:bodyPr wrap="square" rtlCol="0" anchor="ctr"/>
          <a:lstStyle/>
          <a:p>
            <a:pPr marL="0" indent="0" algn="ctr">
              <a:buNone/>
            </a:pPr>
            <a:r>
              <a:rPr lang="en-US" sz="2600" b="1" dirty="0">
                <a:solidFill>
                  <a:srgbClr val="F5C842"/>
                </a:solidFill>
                <a:latin typeface="Georgia" pitchFamily="34" charset="0"/>
                <a:ea typeface="Georgia" pitchFamily="34" charset="-122"/>
                <a:cs typeface="Georgia" pitchFamily="34" charset="-120"/>
              </a:rPr>
              <a:t>PLAYER INSIGHTS &amp; ANALYSIS</a:t>
            </a:r>
            <a:endParaRPr lang="en-US" sz="2600" dirty="0"/>
          </a:p>
        </p:txBody>
      </p:sp>
      <p:graphicFrame>
        <p:nvGraphicFramePr>
          <p:cNvPr id="4" name="Chart 0"/>
          <p:cNvGraphicFramePr/>
          <p:nvPr/>
        </p:nvGraphicFramePr>
        <p:xfrm>
          <a:off x="274320" y="777240"/>
          <a:ext cx="4389120" cy="2743200"/>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 2"/>
          <p:cNvSpPr/>
          <p:nvPr/>
        </p:nvSpPr>
        <p:spPr>
          <a:xfrm>
            <a:off x="4846320" y="777240"/>
            <a:ext cx="4023360" cy="320040"/>
          </a:xfrm>
          <a:prstGeom prst="rect">
            <a:avLst/>
          </a:prstGeom>
          <a:noFill/>
          <a:ln/>
        </p:spPr>
        <p:txBody>
          <a:bodyPr wrap="square" rtlCol="0" anchor="ctr"/>
          <a:lstStyle/>
          <a:p>
            <a:pPr marL="0" indent="0">
              <a:buNone/>
            </a:pPr>
            <a:r>
              <a:rPr lang="en-US" sz="1300" b="1" dirty="0">
                <a:solidFill>
                  <a:srgbClr val="D4A017"/>
                </a:solidFill>
                <a:latin typeface="Calibri" pitchFamily="34" charset="0"/>
                <a:ea typeface="Calibri" pitchFamily="34" charset="-122"/>
                <a:cs typeface="Calibri" pitchFamily="34" charset="-120"/>
              </a:rPr>
              <a:t>Top 5 Most Expensive Players</a:t>
            </a:r>
            <a:endParaRPr lang="en-US" sz="13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846320" y="1115568"/>
          <a:ext cx="4023360" cy="2011680"/>
        </p:xfrm>
        <a:graphic>
          <a:graphicData uri="http://schemas.openxmlformats.org/drawingml/2006/table">
            <a:tbl>
              <a:tblPr/>
              <a:tblGrid>
                <a:gridCol w="173736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tblGrid>
              <a:tr h="335280">
                <a:tc>
                  <a:txBody>
                    <a:bodyPr/>
                    <a:lstStyle/>
                    <a:p>
                      <a:pPr marL="0" indent="0">
                        <a:buNone/>
                      </a:pPr>
                      <a:r>
                        <a:rPr lang="en-US" sz="1100" b="1" dirty="0">
                          <a:solidFill>
                            <a:srgbClr val="1A1A2E"/>
                          </a:solidFill>
                        </a:rPr>
                        <a:t>Player</a:t>
                      </a:r>
                      <a:endParaRPr lang="en-US" sz="1100" dirty="0"/>
                    </a:p>
                  </a:txBody>
                  <a:tcPr>
                    <a:lnL w="6350" cap="flat" cmpd="sng" algn="ctr">
                      <a:solidFill>
                        <a:srgbClr val="D4A017"/>
                      </a:solidFill>
                      <a:prstDash val="solid"/>
                      <a:round/>
                      <a:headEnd type="none" w="med" len="med"/>
                      <a:tailEnd type="none" w="med" len="med"/>
                    </a:lnL>
                    <a:lnR w="6350" cap="flat" cmpd="sng" algn="ctr">
                      <a:solidFill>
                        <a:srgbClr val="D4A017"/>
                      </a:solidFill>
                      <a:prstDash val="solid"/>
                      <a:round/>
                      <a:headEnd type="none" w="med" len="med"/>
                      <a:tailEnd type="none" w="med" len="med"/>
                    </a:lnR>
                    <a:lnT w="6350" cap="flat" cmpd="sng" algn="ctr">
                      <a:solidFill>
                        <a:srgbClr val="D4A017"/>
                      </a:solidFill>
                      <a:prstDash val="solid"/>
                      <a:round/>
                      <a:headEnd type="none" w="med" len="med"/>
                      <a:tailEnd type="none" w="med" len="med"/>
                    </a:lnT>
                    <a:lnB w="6350" cap="flat" cmpd="sng" algn="ctr">
                      <a:solidFill>
                        <a:srgbClr val="D4A017"/>
                      </a:solidFill>
                      <a:prstDash val="solid"/>
                      <a:round/>
                      <a:headEnd type="none" w="med" len="med"/>
                      <a:tailEnd type="none" w="med" len="med"/>
                    </a:lnB>
                    <a:solidFill>
                      <a:srgbClr val="D4A017"/>
                    </a:solidFill>
                  </a:tcPr>
                </a:tc>
                <a:tc>
                  <a:txBody>
                    <a:bodyPr/>
                    <a:lstStyle/>
                    <a:p>
                      <a:pPr marL="0" indent="0">
                        <a:buNone/>
                      </a:pPr>
                      <a:r>
                        <a:rPr lang="en-US" sz="1100" b="1" dirty="0">
                          <a:solidFill>
                            <a:srgbClr val="1A1A2E"/>
                          </a:solidFill>
                        </a:rPr>
                        <a:t>Role</a:t>
                      </a:r>
                      <a:endParaRPr lang="en-US" sz="1100" dirty="0"/>
                    </a:p>
                  </a:txBody>
                  <a:tcPr>
                    <a:lnL w="6350" cap="flat" cmpd="sng" algn="ctr">
                      <a:solidFill>
                        <a:srgbClr val="D4A017"/>
                      </a:solidFill>
                      <a:prstDash val="solid"/>
                      <a:round/>
                      <a:headEnd type="none" w="med" len="med"/>
                      <a:tailEnd type="none" w="med" len="med"/>
                    </a:lnL>
                    <a:lnR w="6350" cap="flat" cmpd="sng" algn="ctr">
                      <a:solidFill>
                        <a:srgbClr val="D4A017"/>
                      </a:solidFill>
                      <a:prstDash val="solid"/>
                      <a:round/>
                      <a:headEnd type="none" w="med" len="med"/>
                      <a:tailEnd type="none" w="med" len="med"/>
                    </a:lnR>
                    <a:lnT w="6350" cap="flat" cmpd="sng" algn="ctr">
                      <a:solidFill>
                        <a:srgbClr val="D4A017"/>
                      </a:solidFill>
                      <a:prstDash val="solid"/>
                      <a:round/>
                      <a:headEnd type="none" w="med" len="med"/>
                      <a:tailEnd type="none" w="med" len="med"/>
                    </a:lnT>
                    <a:lnB w="6350" cap="flat" cmpd="sng" algn="ctr">
                      <a:solidFill>
                        <a:srgbClr val="D4A017"/>
                      </a:solidFill>
                      <a:prstDash val="solid"/>
                      <a:round/>
                      <a:headEnd type="none" w="med" len="med"/>
                      <a:tailEnd type="none" w="med" len="med"/>
                    </a:lnB>
                    <a:solidFill>
                      <a:srgbClr val="D4A017"/>
                    </a:solidFill>
                  </a:tcPr>
                </a:tc>
                <a:tc>
                  <a:txBody>
                    <a:bodyPr/>
                    <a:lstStyle/>
                    <a:p>
                      <a:pPr marL="0" indent="0">
                        <a:buNone/>
                      </a:pPr>
                      <a:r>
                        <a:rPr lang="en-US" sz="1100" b="1" dirty="0">
                          <a:solidFill>
                            <a:srgbClr val="1A1A2E"/>
                          </a:solidFill>
                        </a:rPr>
                        <a:t>Amount</a:t>
                      </a:r>
                      <a:endParaRPr lang="en-US" sz="1100" dirty="0"/>
                    </a:p>
                  </a:txBody>
                  <a:tcPr>
                    <a:lnL w="6350" cap="flat" cmpd="sng" algn="ctr">
                      <a:solidFill>
                        <a:srgbClr val="D4A017"/>
                      </a:solidFill>
                      <a:prstDash val="solid"/>
                      <a:round/>
                      <a:headEnd type="none" w="med" len="med"/>
                      <a:tailEnd type="none" w="med" len="med"/>
                    </a:lnL>
                    <a:lnR w="6350" cap="flat" cmpd="sng" algn="ctr">
                      <a:solidFill>
                        <a:srgbClr val="D4A017"/>
                      </a:solidFill>
                      <a:prstDash val="solid"/>
                      <a:round/>
                      <a:headEnd type="none" w="med" len="med"/>
                      <a:tailEnd type="none" w="med" len="med"/>
                    </a:lnR>
                    <a:lnT w="6350" cap="flat" cmpd="sng" algn="ctr">
                      <a:solidFill>
                        <a:srgbClr val="D4A017"/>
                      </a:solidFill>
                      <a:prstDash val="solid"/>
                      <a:round/>
                      <a:headEnd type="none" w="med" len="med"/>
                      <a:tailEnd type="none" w="med" len="med"/>
                    </a:lnT>
                    <a:lnB w="6350" cap="flat" cmpd="sng" algn="ctr">
                      <a:solidFill>
                        <a:srgbClr val="D4A017"/>
                      </a:solidFill>
                      <a:prstDash val="solid"/>
                      <a:round/>
                      <a:headEnd type="none" w="med" len="med"/>
                      <a:tailEnd type="none" w="med" len="med"/>
                    </a:lnB>
                    <a:solidFill>
                      <a:srgbClr val="D4A017"/>
                    </a:solidFill>
                  </a:tcPr>
                </a:tc>
                <a:extLst>
                  <a:ext uri="{0D108BD9-81ED-4DB2-BD59-A6C34878D82A}">
                    <a16:rowId xmlns:a16="http://schemas.microsoft.com/office/drawing/2014/main" val="10000"/>
                  </a:ext>
                </a:extLst>
              </a:tr>
              <a:tr h="335280">
                <a:tc>
                  <a:txBody>
                    <a:bodyPr/>
                    <a:lstStyle/>
                    <a:p>
                      <a:pPr marL="0" indent="0">
                        <a:buNone/>
                      </a:pPr>
                      <a:r>
                        <a:rPr lang="en-US" sz="1100" dirty="0">
                          <a:solidFill>
                            <a:srgbClr val="FFFFFF"/>
                          </a:solidFill>
                        </a:rPr>
                        <a:t>Christopher Morris</a:t>
                      </a:r>
                      <a:endParaRPr lang="en-US" sz="1100" dirty="0"/>
                    </a:p>
                  </a:txBody>
                  <a:tcPr>
                    <a:lnL w="6350" cap="flat" cmpd="sng" algn="ctr">
                      <a:solidFill>
                        <a:srgbClr val="D4A017"/>
                      </a:solidFill>
                      <a:prstDash val="solid"/>
                      <a:round/>
                      <a:headEnd type="none" w="med" len="med"/>
                      <a:tailEnd type="none" w="med" len="med"/>
                    </a:lnL>
                    <a:lnR w="6350" cap="flat" cmpd="sng" algn="ctr">
                      <a:solidFill>
                        <a:srgbClr val="D4A017"/>
                      </a:solidFill>
                      <a:prstDash val="solid"/>
                      <a:round/>
                      <a:headEnd type="none" w="med" len="med"/>
                      <a:tailEnd type="none" w="med" len="med"/>
                    </a:lnR>
                    <a:lnT w="6350" cap="flat" cmpd="sng" algn="ctr">
                      <a:solidFill>
                        <a:srgbClr val="D4A017"/>
                      </a:solidFill>
                      <a:prstDash val="solid"/>
                      <a:round/>
                      <a:headEnd type="none" w="med" len="med"/>
                      <a:tailEnd type="none" w="med" len="med"/>
                    </a:lnT>
                    <a:lnB w="6350" cap="flat" cmpd="sng" algn="ctr">
                      <a:solidFill>
                        <a:srgbClr val="D4A017"/>
                      </a:solidFill>
                      <a:prstDash val="solid"/>
                      <a:round/>
                      <a:headEnd type="none" w="med" len="med"/>
                      <a:tailEnd type="none" w="med" len="med"/>
                    </a:lnB>
                    <a:solidFill>
                      <a:srgbClr val="26264A"/>
                    </a:solidFill>
                  </a:tcPr>
                </a:tc>
                <a:tc>
                  <a:txBody>
                    <a:bodyPr/>
                    <a:lstStyle/>
                    <a:p>
                      <a:pPr marL="0" indent="0">
                        <a:buNone/>
                      </a:pPr>
                      <a:r>
                        <a:rPr lang="en-US" sz="1100" dirty="0">
                          <a:solidFill>
                            <a:srgbClr val="FFFFFF"/>
                          </a:solidFill>
                        </a:rPr>
                        <a:t>All-Rounder</a:t>
                      </a:r>
                      <a:endParaRPr lang="en-US" sz="1100" dirty="0"/>
                    </a:p>
                  </a:txBody>
                  <a:tcPr>
                    <a:lnL w="6350" cap="flat" cmpd="sng" algn="ctr">
                      <a:solidFill>
                        <a:srgbClr val="D4A017"/>
                      </a:solidFill>
                      <a:prstDash val="solid"/>
                      <a:round/>
                      <a:headEnd type="none" w="med" len="med"/>
                      <a:tailEnd type="none" w="med" len="med"/>
                    </a:lnL>
                    <a:lnR w="6350" cap="flat" cmpd="sng" algn="ctr">
                      <a:solidFill>
                        <a:srgbClr val="D4A017"/>
                      </a:solidFill>
                      <a:prstDash val="solid"/>
                      <a:round/>
                      <a:headEnd type="none" w="med" len="med"/>
                      <a:tailEnd type="none" w="med" len="med"/>
                    </a:lnR>
                    <a:lnT w="6350" cap="flat" cmpd="sng" algn="ctr">
                      <a:solidFill>
                        <a:srgbClr val="D4A017"/>
                      </a:solidFill>
                      <a:prstDash val="solid"/>
                      <a:round/>
                      <a:headEnd type="none" w="med" len="med"/>
                      <a:tailEnd type="none" w="med" len="med"/>
                    </a:lnT>
                    <a:lnB w="6350" cap="flat" cmpd="sng" algn="ctr">
                      <a:solidFill>
                        <a:srgbClr val="D4A017"/>
                      </a:solidFill>
                      <a:prstDash val="solid"/>
                      <a:round/>
                      <a:headEnd type="none" w="med" len="med"/>
                      <a:tailEnd type="none" w="med" len="med"/>
                    </a:lnB>
                    <a:solidFill>
                      <a:srgbClr val="26264A"/>
                    </a:solidFill>
                  </a:tcPr>
                </a:tc>
                <a:tc>
                  <a:txBody>
                    <a:bodyPr/>
                    <a:lstStyle/>
                    <a:p>
                      <a:pPr marL="0" indent="0">
                        <a:buNone/>
                      </a:pPr>
                      <a:r>
                        <a:rPr lang="en-US" sz="1100" dirty="0">
                          <a:solidFill>
                            <a:srgbClr val="FFFFFF"/>
                          </a:solidFill>
                        </a:rPr>
                        <a:t>₹16.25 Cr</a:t>
                      </a:r>
                      <a:endParaRPr lang="en-US" sz="1100" dirty="0"/>
                    </a:p>
                  </a:txBody>
                  <a:tcPr>
                    <a:lnL w="6350" cap="flat" cmpd="sng" algn="ctr">
                      <a:solidFill>
                        <a:srgbClr val="D4A017"/>
                      </a:solidFill>
                      <a:prstDash val="solid"/>
                      <a:round/>
                      <a:headEnd type="none" w="med" len="med"/>
                      <a:tailEnd type="none" w="med" len="med"/>
                    </a:lnL>
                    <a:lnR w="6350" cap="flat" cmpd="sng" algn="ctr">
                      <a:solidFill>
                        <a:srgbClr val="D4A017"/>
                      </a:solidFill>
                      <a:prstDash val="solid"/>
                      <a:round/>
                      <a:headEnd type="none" w="med" len="med"/>
                      <a:tailEnd type="none" w="med" len="med"/>
                    </a:lnR>
                    <a:lnT w="6350" cap="flat" cmpd="sng" algn="ctr">
                      <a:solidFill>
                        <a:srgbClr val="D4A017"/>
                      </a:solidFill>
                      <a:prstDash val="solid"/>
                      <a:round/>
                      <a:headEnd type="none" w="med" len="med"/>
                      <a:tailEnd type="none" w="med" len="med"/>
                    </a:lnT>
                    <a:lnB w="6350" cap="flat" cmpd="sng" algn="ctr">
                      <a:solidFill>
                        <a:srgbClr val="D4A017"/>
                      </a:solidFill>
                      <a:prstDash val="solid"/>
                      <a:round/>
                      <a:headEnd type="none" w="med" len="med"/>
                      <a:tailEnd type="none" w="med" len="med"/>
                    </a:lnB>
                    <a:solidFill>
                      <a:srgbClr val="26264A"/>
                    </a:solidFill>
                  </a:tcPr>
                </a:tc>
                <a:extLst>
                  <a:ext uri="{0D108BD9-81ED-4DB2-BD59-A6C34878D82A}">
                    <a16:rowId xmlns:a16="http://schemas.microsoft.com/office/drawing/2014/main" val="10001"/>
                  </a:ext>
                </a:extLst>
              </a:tr>
              <a:tr h="335280">
                <a:tc>
                  <a:txBody>
                    <a:bodyPr/>
                    <a:lstStyle/>
                    <a:p>
                      <a:pPr marL="0" indent="0">
                        <a:buNone/>
                      </a:pPr>
                      <a:r>
                        <a:rPr lang="en-US" sz="1100" dirty="0">
                          <a:solidFill>
                            <a:srgbClr val="FFFFFF"/>
                          </a:solidFill>
                        </a:rPr>
                        <a:t>Yuvraj Singh</a:t>
                      </a:r>
                      <a:endParaRPr lang="en-US" sz="1100" dirty="0"/>
                    </a:p>
                  </a:txBody>
                  <a:tcPr>
                    <a:lnL w="6350" cap="flat" cmpd="sng" algn="ctr">
                      <a:solidFill>
                        <a:srgbClr val="D4A017"/>
                      </a:solidFill>
                      <a:prstDash val="solid"/>
                      <a:round/>
                      <a:headEnd type="none" w="med" len="med"/>
                      <a:tailEnd type="none" w="med" len="med"/>
                    </a:lnL>
                    <a:lnR w="6350" cap="flat" cmpd="sng" algn="ctr">
                      <a:solidFill>
                        <a:srgbClr val="D4A017"/>
                      </a:solidFill>
                      <a:prstDash val="solid"/>
                      <a:round/>
                      <a:headEnd type="none" w="med" len="med"/>
                      <a:tailEnd type="none" w="med" len="med"/>
                    </a:lnR>
                    <a:lnT w="6350" cap="flat" cmpd="sng" algn="ctr">
                      <a:solidFill>
                        <a:srgbClr val="D4A017"/>
                      </a:solidFill>
                      <a:prstDash val="solid"/>
                      <a:round/>
                      <a:headEnd type="none" w="med" len="med"/>
                      <a:tailEnd type="none" w="med" len="med"/>
                    </a:lnT>
                    <a:lnB w="6350" cap="flat" cmpd="sng" algn="ctr">
                      <a:solidFill>
                        <a:srgbClr val="D4A017"/>
                      </a:solidFill>
                      <a:prstDash val="solid"/>
                      <a:round/>
                      <a:headEnd type="none" w="med" len="med"/>
                      <a:tailEnd type="none" w="med" len="med"/>
                    </a:lnB>
                    <a:solidFill>
                      <a:srgbClr val="2E2E52"/>
                    </a:solidFill>
                  </a:tcPr>
                </a:tc>
                <a:tc>
                  <a:txBody>
                    <a:bodyPr/>
                    <a:lstStyle/>
                    <a:p>
                      <a:pPr marL="0" indent="0">
                        <a:buNone/>
                      </a:pPr>
                      <a:r>
                        <a:rPr lang="en-US" sz="1100" dirty="0">
                          <a:solidFill>
                            <a:srgbClr val="FFFFFF"/>
                          </a:solidFill>
                        </a:rPr>
                        <a:t>Batsman</a:t>
                      </a:r>
                      <a:endParaRPr lang="en-US" sz="1100" dirty="0"/>
                    </a:p>
                  </a:txBody>
                  <a:tcPr>
                    <a:lnL w="6350" cap="flat" cmpd="sng" algn="ctr">
                      <a:solidFill>
                        <a:srgbClr val="D4A017"/>
                      </a:solidFill>
                      <a:prstDash val="solid"/>
                      <a:round/>
                      <a:headEnd type="none" w="med" len="med"/>
                      <a:tailEnd type="none" w="med" len="med"/>
                    </a:lnL>
                    <a:lnR w="6350" cap="flat" cmpd="sng" algn="ctr">
                      <a:solidFill>
                        <a:srgbClr val="D4A017"/>
                      </a:solidFill>
                      <a:prstDash val="solid"/>
                      <a:round/>
                      <a:headEnd type="none" w="med" len="med"/>
                      <a:tailEnd type="none" w="med" len="med"/>
                    </a:lnR>
                    <a:lnT w="6350" cap="flat" cmpd="sng" algn="ctr">
                      <a:solidFill>
                        <a:srgbClr val="D4A017"/>
                      </a:solidFill>
                      <a:prstDash val="solid"/>
                      <a:round/>
                      <a:headEnd type="none" w="med" len="med"/>
                      <a:tailEnd type="none" w="med" len="med"/>
                    </a:lnT>
                    <a:lnB w="6350" cap="flat" cmpd="sng" algn="ctr">
                      <a:solidFill>
                        <a:srgbClr val="D4A017"/>
                      </a:solidFill>
                      <a:prstDash val="solid"/>
                      <a:round/>
                      <a:headEnd type="none" w="med" len="med"/>
                      <a:tailEnd type="none" w="med" len="med"/>
                    </a:lnB>
                    <a:solidFill>
                      <a:srgbClr val="2E2E52"/>
                    </a:solidFill>
                  </a:tcPr>
                </a:tc>
                <a:tc>
                  <a:txBody>
                    <a:bodyPr/>
                    <a:lstStyle/>
                    <a:p>
                      <a:pPr marL="0" indent="0">
                        <a:buNone/>
                      </a:pPr>
                      <a:r>
                        <a:rPr lang="en-US" sz="1100" dirty="0">
                          <a:solidFill>
                            <a:srgbClr val="FFFFFF"/>
                          </a:solidFill>
                        </a:rPr>
                        <a:t>₹16.00 Cr</a:t>
                      </a:r>
                      <a:endParaRPr lang="en-US" sz="1100" dirty="0"/>
                    </a:p>
                  </a:txBody>
                  <a:tcPr>
                    <a:lnL w="6350" cap="flat" cmpd="sng" algn="ctr">
                      <a:solidFill>
                        <a:srgbClr val="D4A017"/>
                      </a:solidFill>
                      <a:prstDash val="solid"/>
                      <a:round/>
                      <a:headEnd type="none" w="med" len="med"/>
                      <a:tailEnd type="none" w="med" len="med"/>
                    </a:lnL>
                    <a:lnR w="6350" cap="flat" cmpd="sng" algn="ctr">
                      <a:solidFill>
                        <a:srgbClr val="D4A017"/>
                      </a:solidFill>
                      <a:prstDash val="solid"/>
                      <a:round/>
                      <a:headEnd type="none" w="med" len="med"/>
                      <a:tailEnd type="none" w="med" len="med"/>
                    </a:lnR>
                    <a:lnT w="6350" cap="flat" cmpd="sng" algn="ctr">
                      <a:solidFill>
                        <a:srgbClr val="D4A017"/>
                      </a:solidFill>
                      <a:prstDash val="solid"/>
                      <a:round/>
                      <a:headEnd type="none" w="med" len="med"/>
                      <a:tailEnd type="none" w="med" len="med"/>
                    </a:lnT>
                    <a:lnB w="6350" cap="flat" cmpd="sng" algn="ctr">
                      <a:solidFill>
                        <a:srgbClr val="D4A017"/>
                      </a:solidFill>
                      <a:prstDash val="solid"/>
                      <a:round/>
                      <a:headEnd type="none" w="med" len="med"/>
                      <a:tailEnd type="none" w="med" len="med"/>
                    </a:lnB>
                    <a:solidFill>
                      <a:srgbClr val="2E2E52"/>
                    </a:solidFill>
                  </a:tcPr>
                </a:tc>
                <a:extLst>
                  <a:ext uri="{0D108BD9-81ED-4DB2-BD59-A6C34878D82A}">
                    <a16:rowId xmlns:a16="http://schemas.microsoft.com/office/drawing/2014/main" val="10002"/>
                  </a:ext>
                </a:extLst>
              </a:tr>
              <a:tr h="335280">
                <a:tc>
                  <a:txBody>
                    <a:bodyPr/>
                    <a:lstStyle/>
                    <a:p>
                      <a:pPr marL="0" indent="0">
                        <a:buNone/>
                      </a:pPr>
                      <a:r>
                        <a:rPr lang="en-US" sz="1100" dirty="0">
                          <a:solidFill>
                            <a:srgbClr val="FFFFFF"/>
                          </a:solidFill>
                        </a:rPr>
                        <a:t>Pat Cummins</a:t>
                      </a:r>
                      <a:endParaRPr lang="en-US" sz="1100" dirty="0"/>
                    </a:p>
                  </a:txBody>
                  <a:tcPr>
                    <a:lnL w="6350" cap="flat" cmpd="sng" algn="ctr">
                      <a:solidFill>
                        <a:srgbClr val="D4A017"/>
                      </a:solidFill>
                      <a:prstDash val="solid"/>
                      <a:round/>
                      <a:headEnd type="none" w="med" len="med"/>
                      <a:tailEnd type="none" w="med" len="med"/>
                    </a:lnL>
                    <a:lnR w="6350" cap="flat" cmpd="sng" algn="ctr">
                      <a:solidFill>
                        <a:srgbClr val="D4A017"/>
                      </a:solidFill>
                      <a:prstDash val="solid"/>
                      <a:round/>
                      <a:headEnd type="none" w="med" len="med"/>
                      <a:tailEnd type="none" w="med" len="med"/>
                    </a:lnR>
                    <a:lnT w="6350" cap="flat" cmpd="sng" algn="ctr">
                      <a:solidFill>
                        <a:srgbClr val="D4A017"/>
                      </a:solidFill>
                      <a:prstDash val="solid"/>
                      <a:round/>
                      <a:headEnd type="none" w="med" len="med"/>
                      <a:tailEnd type="none" w="med" len="med"/>
                    </a:lnT>
                    <a:lnB w="6350" cap="flat" cmpd="sng" algn="ctr">
                      <a:solidFill>
                        <a:srgbClr val="D4A017"/>
                      </a:solidFill>
                      <a:prstDash val="solid"/>
                      <a:round/>
                      <a:headEnd type="none" w="med" len="med"/>
                      <a:tailEnd type="none" w="med" len="med"/>
                    </a:lnB>
                    <a:solidFill>
                      <a:srgbClr val="26264A"/>
                    </a:solidFill>
                  </a:tcPr>
                </a:tc>
                <a:tc>
                  <a:txBody>
                    <a:bodyPr/>
                    <a:lstStyle/>
                    <a:p>
                      <a:pPr marL="0" indent="0">
                        <a:buNone/>
                      </a:pPr>
                      <a:r>
                        <a:rPr lang="en-US" sz="1100" dirty="0">
                          <a:solidFill>
                            <a:srgbClr val="FFFFFF"/>
                          </a:solidFill>
                        </a:rPr>
                        <a:t>All-Rounder</a:t>
                      </a:r>
                      <a:endParaRPr lang="en-US" sz="1100" dirty="0"/>
                    </a:p>
                  </a:txBody>
                  <a:tcPr>
                    <a:lnL w="6350" cap="flat" cmpd="sng" algn="ctr">
                      <a:solidFill>
                        <a:srgbClr val="D4A017"/>
                      </a:solidFill>
                      <a:prstDash val="solid"/>
                      <a:round/>
                      <a:headEnd type="none" w="med" len="med"/>
                      <a:tailEnd type="none" w="med" len="med"/>
                    </a:lnL>
                    <a:lnR w="6350" cap="flat" cmpd="sng" algn="ctr">
                      <a:solidFill>
                        <a:srgbClr val="D4A017"/>
                      </a:solidFill>
                      <a:prstDash val="solid"/>
                      <a:round/>
                      <a:headEnd type="none" w="med" len="med"/>
                      <a:tailEnd type="none" w="med" len="med"/>
                    </a:lnR>
                    <a:lnT w="6350" cap="flat" cmpd="sng" algn="ctr">
                      <a:solidFill>
                        <a:srgbClr val="D4A017"/>
                      </a:solidFill>
                      <a:prstDash val="solid"/>
                      <a:round/>
                      <a:headEnd type="none" w="med" len="med"/>
                      <a:tailEnd type="none" w="med" len="med"/>
                    </a:lnT>
                    <a:lnB w="6350" cap="flat" cmpd="sng" algn="ctr">
                      <a:solidFill>
                        <a:srgbClr val="D4A017"/>
                      </a:solidFill>
                      <a:prstDash val="solid"/>
                      <a:round/>
                      <a:headEnd type="none" w="med" len="med"/>
                      <a:tailEnd type="none" w="med" len="med"/>
                    </a:lnB>
                    <a:solidFill>
                      <a:srgbClr val="26264A"/>
                    </a:solidFill>
                  </a:tcPr>
                </a:tc>
                <a:tc>
                  <a:txBody>
                    <a:bodyPr/>
                    <a:lstStyle/>
                    <a:p>
                      <a:pPr marL="0" indent="0">
                        <a:buNone/>
                      </a:pPr>
                      <a:r>
                        <a:rPr lang="en-US" sz="1100" dirty="0">
                          <a:solidFill>
                            <a:srgbClr val="FFFFFF"/>
                          </a:solidFill>
                        </a:rPr>
                        <a:t>₹15.50 Cr</a:t>
                      </a:r>
                      <a:endParaRPr lang="en-US" sz="1100" dirty="0"/>
                    </a:p>
                  </a:txBody>
                  <a:tcPr>
                    <a:lnL w="6350" cap="flat" cmpd="sng" algn="ctr">
                      <a:solidFill>
                        <a:srgbClr val="D4A017"/>
                      </a:solidFill>
                      <a:prstDash val="solid"/>
                      <a:round/>
                      <a:headEnd type="none" w="med" len="med"/>
                      <a:tailEnd type="none" w="med" len="med"/>
                    </a:lnL>
                    <a:lnR w="6350" cap="flat" cmpd="sng" algn="ctr">
                      <a:solidFill>
                        <a:srgbClr val="D4A017"/>
                      </a:solidFill>
                      <a:prstDash val="solid"/>
                      <a:round/>
                      <a:headEnd type="none" w="med" len="med"/>
                      <a:tailEnd type="none" w="med" len="med"/>
                    </a:lnR>
                    <a:lnT w="6350" cap="flat" cmpd="sng" algn="ctr">
                      <a:solidFill>
                        <a:srgbClr val="D4A017"/>
                      </a:solidFill>
                      <a:prstDash val="solid"/>
                      <a:round/>
                      <a:headEnd type="none" w="med" len="med"/>
                      <a:tailEnd type="none" w="med" len="med"/>
                    </a:lnT>
                    <a:lnB w="6350" cap="flat" cmpd="sng" algn="ctr">
                      <a:solidFill>
                        <a:srgbClr val="D4A017"/>
                      </a:solidFill>
                      <a:prstDash val="solid"/>
                      <a:round/>
                      <a:headEnd type="none" w="med" len="med"/>
                      <a:tailEnd type="none" w="med" len="med"/>
                    </a:lnB>
                    <a:solidFill>
                      <a:srgbClr val="26264A"/>
                    </a:solidFill>
                  </a:tcPr>
                </a:tc>
                <a:extLst>
                  <a:ext uri="{0D108BD9-81ED-4DB2-BD59-A6C34878D82A}">
                    <a16:rowId xmlns:a16="http://schemas.microsoft.com/office/drawing/2014/main" val="10003"/>
                  </a:ext>
                </a:extLst>
              </a:tr>
              <a:tr h="335280">
                <a:tc>
                  <a:txBody>
                    <a:bodyPr/>
                    <a:lstStyle/>
                    <a:p>
                      <a:pPr marL="0" indent="0">
                        <a:buNone/>
                      </a:pPr>
                      <a:r>
                        <a:rPr lang="en-US" sz="1100" dirty="0">
                          <a:solidFill>
                            <a:srgbClr val="FFFFFF"/>
                          </a:solidFill>
                        </a:rPr>
                        <a:t>Ishan Kishan</a:t>
                      </a:r>
                      <a:endParaRPr lang="en-US" sz="1100" dirty="0"/>
                    </a:p>
                  </a:txBody>
                  <a:tcPr>
                    <a:lnL w="6350" cap="flat" cmpd="sng" algn="ctr">
                      <a:solidFill>
                        <a:srgbClr val="D4A017"/>
                      </a:solidFill>
                      <a:prstDash val="solid"/>
                      <a:round/>
                      <a:headEnd type="none" w="med" len="med"/>
                      <a:tailEnd type="none" w="med" len="med"/>
                    </a:lnL>
                    <a:lnR w="6350" cap="flat" cmpd="sng" algn="ctr">
                      <a:solidFill>
                        <a:srgbClr val="D4A017"/>
                      </a:solidFill>
                      <a:prstDash val="solid"/>
                      <a:round/>
                      <a:headEnd type="none" w="med" len="med"/>
                      <a:tailEnd type="none" w="med" len="med"/>
                    </a:lnR>
                    <a:lnT w="6350" cap="flat" cmpd="sng" algn="ctr">
                      <a:solidFill>
                        <a:srgbClr val="D4A017"/>
                      </a:solidFill>
                      <a:prstDash val="solid"/>
                      <a:round/>
                      <a:headEnd type="none" w="med" len="med"/>
                      <a:tailEnd type="none" w="med" len="med"/>
                    </a:lnT>
                    <a:lnB w="6350" cap="flat" cmpd="sng" algn="ctr">
                      <a:solidFill>
                        <a:srgbClr val="D4A017"/>
                      </a:solidFill>
                      <a:prstDash val="solid"/>
                      <a:round/>
                      <a:headEnd type="none" w="med" len="med"/>
                      <a:tailEnd type="none" w="med" len="med"/>
                    </a:lnB>
                    <a:solidFill>
                      <a:srgbClr val="2E2E52"/>
                    </a:solidFill>
                  </a:tcPr>
                </a:tc>
                <a:tc>
                  <a:txBody>
                    <a:bodyPr/>
                    <a:lstStyle/>
                    <a:p>
                      <a:pPr marL="0" indent="0">
                        <a:buNone/>
                      </a:pPr>
                      <a:r>
                        <a:rPr lang="en-US" sz="1100" dirty="0">
                          <a:solidFill>
                            <a:srgbClr val="FFFFFF"/>
                          </a:solidFill>
                        </a:rPr>
                        <a:t>Wicket Keeper</a:t>
                      </a:r>
                      <a:endParaRPr lang="en-US" sz="1100" dirty="0"/>
                    </a:p>
                  </a:txBody>
                  <a:tcPr>
                    <a:lnL w="6350" cap="flat" cmpd="sng" algn="ctr">
                      <a:solidFill>
                        <a:srgbClr val="D4A017"/>
                      </a:solidFill>
                      <a:prstDash val="solid"/>
                      <a:round/>
                      <a:headEnd type="none" w="med" len="med"/>
                      <a:tailEnd type="none" w="med" len="med"/>
                    </a:lnL>
                    <a:lnR w="6350" cap="flat" cmpd="sng" algn="ctr">
                      <a:solidFill>
                        <a:srgbClr val="D4A017"/>
                      </a:solidFill>
                      <a:prstDash val="solid"/>
                      <a:round/>
                      <a:headEnd type="none" w="med" len="med"/>
                      <a:tailEnd type="none" w="med" len="med"/>
                    </a:lnR>
                    <a:lnT w="6350" cap="flat" cmpd="sng" algn="ctr">
                      <a:solidFill>
                        <a:srgbClr val="D4A017"/>
                      </a:solidFill>
                      <a:prstDash val="solid"/>
                      <a:round/>
                      <a:headEnd type="none" w="med" len="med"/>
                      <a:tailEnd type="none" w="med" len="med"/>
                    </a:lnT>
                    <a:lnB w="6350" cap="flat" cmpd="sng" algn="ctr">
                      <a:solidFill>
                        <a:srgbClr val="D4A017"/>
                      </a:solidFill>
                      <a:prstDash val="solid"/>
                      <a:round/>
                      <a:headEnd type="none" w="med" len="med"/>
                      <a:tailEnd type="none" w="med" len="med"/>
                    </a:lnB>
                    <a:solidFill>
                      <a:srgbClr val="2E2E52"/>
                    </a:solidFill>
                  </a:tcPr>
                </a:tc>
                <a:tc>
                  <a:txBody>
                    <a:bodyPr/>
                    <a:lstStyle/>
                    <a:p>
                      <a:pPr marL="0" indent="0">
                        <a:buNone/>
                      </a:pPr>
                      <a:r>
                        <a:rPr lang="en-US" sz="1100" dirty="0">
                          <a:solidFill>
                            <a:srgbClr val="FFFFFF"/>
                          </a:solidFill>
                        </a:rPr>
                        <a:t>₹15.25 Cr</a:t>
                      </a:r>
                      <a:endParaRPr lang="en-US" sz="1100" dirty="0"/>
                    </a:p>
                  </a:txBody>
                  <a:tcPr>
                    <a:lnL w="6350" cap="flat" cmpd="sng" algn="ctr">
                      <a:solidFill>
                        <a:srgbClr val="D4A017"/>
                      </a:solidFill>
                      <a:prstDash val="solid"/>
                      <a:round/>
                      <a:headEnd type="none" w="med" len="med"/>
                      <a:tailEnd type="none" w="med" len="med"/>
                    </a:lnL>
                    <a:lnR w="6350" cap="flat" cmpd="sng" algn="ctr">
                      <a:solidFill>
                        <a:srgbClr val="D4A017"/>
                      </a:solidFill>
                      <a:prstDash val="solid"/>
                      <a:round/>
                      <a:headEnd type="none" w="med" len="med"/>
                      <a:tailEnd type="none" w="med" len="med"/>
                    </a:lnR>
                    <a:lnT w="6350" cap="flat" cmpd="sng" algn="ctr">
                      <a:solidFill>
                        <a:srgbClr val="D4A017"/>
                      </a:solidFill>
                      <a:prstDash val="solid"/>
                      <a:round/>
                      <a:headEnd type="none" w="med" len="med"/>
                      <a:tailEnd type="none" w="med" len="med"/>
                    </a:lnT>
                    <a:lnB w="6350" cap="flat" cmpd="sng" algn="ctr">
                      <a:solidFill>
                        <a:srgbClr val="D4A017"/>
                      </a:solidFill>
                      <a:prstDash val="solid"/>
                      <a:round/>
                      <a:headEnd type="none" w="med" len="med"/>
                      <a:tailEnd type="none" w="med" len="med"/>
                    </a:lnB>
                    <a:solidFill>
                      <a:srgbClr val="2E2E52"/>
                    </a:solidFill>
                  </a:tcPr>
                </a:tc>
                <a:extLst>
                  <a:ext uri="{0D108BD9-81ED-4DB2-BD59-A6C34878D82A}">
                    <a16:rowId xmlns:a16="http://schemas.microsoft.com/office/drawing/2014/main" val="10004"/>
                  </a:ext>
                </a:extLst>
              </a:tr>
              <a:tr h="335280">
                <a:tc>
                  <a:txBody>
                    <a:bodyPr/>
                    <a:lstStyle/>
                    <a:p>
                      <a:pPr marL="0" indent="0">
                        <a:buNone/>
                      </a:pPr>
                      <a:r>
                        <a:rPr lang="en-US" sz="1100" dirty="0">
                          <a:solidFill>
                            <a:srgbClr val="FFFFFF"/>
                          </a:solidFill>
                        </a:rPr>
                        <a:t>Benjamin Stokes</a:t>
                      </a:r>
                      <a:endParaRPr lang="en-US" sz="1100" dirty="0"/>
                    </a:p>
                  </a:txBody>
                  <a:tcPr>
                    <a:lnL w="6350" cap="flat" cmpd="sng" algn="ctr">
                      <a:solidFill>
                        <a:srgbClr val="D4A017"/>
                      </a:solidFill>
                      <a:prstDash val="solid"/>
                      <a:round/>
                      <a:headEnd type="none" w="med" len="med"/>
                      <a:tailEnd type="none" w="med" len="med"/>
                    </a:lnL>
                    <a:lnR w="6350" cap="flat" cmpd="sng" algn="ctr">
                      <a:solidFill>
                        <a:srgbClr val="D4A017"/>
                      </a:solidFill>
                      <a:prstDash val="solid"/>
                      <a:round/>
                      <a:headEnd type="none" w="med" len="med"/>
                      <a:tailEnd type="none" w="med" len="med"/>
                    </a:lnR>
                    <a:lnT w="6350" cap="flat" cmpd="sng" algn="ctr">
                      <a:solidFill>
                        <a:srgbClr val="D4A017"/>
                      </a:solidFill>
                      <a:prstDash val="solid"/>
                      <a:round/>
                      <a:headEnd type="none" w="med" len="med"/>
                      <a:tailEnd type="none" w="med" len="med"/>
                    </a:lnT>
                    <a:lnB w="6350" cap="flat" cmpd="sng" algn="ctr">
                      <a:solidFill>
                        <a:srgbClr val="D4A017"/>
                      </a:solidFill>
                      <a:prstDash val="solid"/>
                      <a:round/>
                      <a:headEnd type="none" w="med" len="med"/>
                      <a:tailEnd type="none" w="med" len="med"/>
                    </a:lnB>
                    <a:solidFill>
                      <a:srgbClr val="26264A"/>
                    </a:solidFill>
                  </a:tcPr>
                </a:tc>
                <a:tc>
                  <a:txBody>
                    <a:bodyPr/>
                    <a:lstStyle/>
                    <a:p>
                      <a:pPr marL="0" indent="0">
                        <a:buNone/>
                      </a:pPr>
                      <a:r>
                        <a:rPr lang="en-US" sz="1100" dirty="0">
                          <a:solidFill>
                            <a:srgbClr val="FFFFFF"/>
                          </a:solidFill>
                        </a:rPr>
                        <a:t>All-Rounder</a:t>
                      </a:r>
                      <a:endParaRPr lang="en-US" sz="1100" dirty="0"/>
                    </a:p>
                  </a:txBody>
                  <a:tcPr>
                    <a:lnL w="6350" cap="flat" cmpd="sng" algn="ctr">
                      <a:solidFill>
                        <a:srgbClr val="D4A017"/>
                      </a:solidFill>
                      <a:prstDash val="solid"/>
                      <a:round/>
                      <a:headEnd type="none" w="med" len="med"/>
                      <a:tailEnd type="none" w="med" len="med"/>
                    </a:lnL>
                    <a:lnR w="6350" cap="flat" cmpd="sng" algn="ctr">
                      <a:solidFill>
                        <a:srgbClr val="D4A017"/>
                      </a:solidFill>
                      <a:prstDash val="solid"/>
                      <a:round/>
                      <a:headEnd type="none" w="med" len="med"/>
                      <a:tailEnd type="none" w="med" len="med"/>
                    </a:lnR>
                    <a:lnT w="6350" cap="flat" cmpd="sng" algn="ctr">
                      <a:solidFill>
                        <a:srgbClr val="D4A017"/>
                      </a:solidFill>
                      <a:prstDash val="solid"/>
                      <a:round/>
                      <a:headEnd type="none" w="med" len="med"/>
                      <a:tailEnd type="none" w="med" len="med"/>
                    </a:lnT>
                    <a:lnB w="6350" cap="flat" cmpd="sng" algn="ctr">
                      <a:solidFill>
                        <a:srgbClr val="D4A017"/>
                      </a:solidFill>
                      <a:prstDash val="solid"/>
                      <a:round/>
                      <a:headEnd type="none" w="med" len="med"/>
                      <a:tailEnd type="none" w="med" len="med"/>
                    </a:lnB>
                    <a:solidFill>
                      <a:srgbClr val="26264A"/>
                    </a:solidFill>
                  </a:tcPr>
                </a:tc>
                <a:tc>
                  <a:txBody>
                    <a:bodyPr/>
                    <a:lstStyle/>
                    <a:p>
                      <a:pPr marL="0" indent="0">
                        <a:buNone/>
                      </a:pPr>
                      <a:r>
                        <a:rPr lang="en-US" sz="1100" dirty="0">
                          <a:solidFill>
                            <a:srgbClr val="FFFFFF"/>
                          </a:solidFill>
                        </a:rPr>
                        <a:t>₹14.50 Cr</a:t>
                      </a:r>
                      <a:endParaRPr lang="en-US" sz="1100" dirty="0"/>
                    </a:p>
                  </a:txBody>
                  <a:tcPr>
                    <a:lnL w="6350" cap="flat" cmpd="sng" algn="ctr">
                      <a:solidFill>
                        <a:srgbClr val="D4A017"/>
                      </a:solidFill>
                      <a:prstDash val="solid"/>
                      <a:round/>
                      <a:headEnd type="none" w="med" len="med"/>
                      <a:tailEnd type="none" w="med" len="med"/>
                    </a:lnL>
                    <a:lnR w="6350" cap="flat" cmpd="sng" algn="ctr">
                      <a:solidFill>
                        <a:srgbClr val="D4A017"/>
                      </a:solidFill>
                      <a:prstDash val="solid"/>
                      <a:round/>
                      <a:headEnd type="none" w="med" len="med"/>
                      <a:tailEnd type="none" w="med" len="med"/>
                    </a:lnR>
                    <a:lnT w="6350" cap="flat" cmpd="sng" algn="ctr">
                      <a:solidFill>
                        <a:srgbClr val="D4A017"/>
                      </a:solidFill>
                      <a:prstDash val="solid"/>
                      <a:round/>
                      <a:headEnd type="none" w="med" len="med"/>
                      <a:tailEnd type="none" w="med" len="med"/>
                    </a:lnT>
                    <a:lnB w="6350" cap="flat" cmpd="sng" algn="ctr">
                      <a:solidFill>
                        <a:srgbClr val="D4A017"/>
                      </a:solidFill>
                      <a:prstDash val="solid"/>
                      <a:round/>
                      <a:headEnd type="none" w="med" len="med"/>
                      <a:tailEnd type="none" w="med" len="med"/>
                    </a:lnB>
                    <a:solidFill>
                      <a:srgbClr val="26264A"/>
                    </a:solidFill>
                  </a:tcPr>
                </a:tc>
                <a:extLst>
                  <a:ext uri="{0D108BD9-81ED-4DB2-BD59-A6C34878D82A}">
                    <a16:rowId xmlns:a16="http://schemas.microsoft.com/office/drawing/2014/main" val="10005"/>
                  </a:ext>
                </a:extLst>
              </a:tr>
            </a:tbl>
          </a:graphicData>
        </a:graphic>
      </p:graphicFrame>
      <p:sp>
        <p:nvSpPr>
          <p:cNvPr id="6" name="Shape 3"/>
          <p:cNvSpPr/>
          <p:nvPr/>
        </p:nvSpPr>
        <p:spPr>
          <a:xfrm>
            <a:off x="274320" y="3657600"/>
            <a:ext cx="2011680" cy="1097280"/>
          </a:xfrm>
          <a:prstGeom prst="rect">
            <a:avLst/>
          </a:prstGeom>
          <a:solidFill>
            <a:srgbClr val="26264A"/>
          </a:solidFill>
          <a:ln w="12700">
            <a:solidFill>
              <a:srgbClr val="D4A017"/>
            </a:solidFill>
            <a:prstDash val="solid"/>
          </a:ln>
        </p:spPr>
        <p:txBody>
          <a:bodyPr/>
          <a:lstStyle/>
          <a:p>
            <a:endParaRPr lang="en-US"/>
          </a:p>
        </p:txBody>
      </p:sp>
      <p:sp>
        <p:nvSpPr>
          <p:cNvPr id="8" name="Text 4"/>
          <p:cNvSpPr/>
          <p:nvPr/>
        </p:nvSpPr>
        <p:spPr>
          <a:xfrm>
            <a:off x="274320" y="3703320"/>
            <a:ext cx="2011680" cy="502920"/>
          </a:xfrm>
          <a:prstGeom prst="rect">
            <a:avLst/>
          </a:prstGeom>
          <a:noFill/>
          <a:ln/>
        </p:spPr>
        <p:txBody>
          <a:bodyPr wrap="square" rtlCol="0" anchor="ctr"/>
          <a:lstStyle/>
          <a:p>
            <a:pPr marL="0" indent="0" algn="ctr">
              <a:buNone/>
            </a:pPr>
            <a:r>
              <a:rPr lang="en-US" sz="2600" b="1" dirty="0">
                <a:solidFill>
                  <a:srgbClr val="F5C842"/>
                </a:solidFill>
                <a:latin typeface="Georgia" pitchFamily="34" charset="0"/>
                <a:ea typeface="Georgia" pitchFamily="34" charset="-122"/>
                <a:cs typeface="Georgia" pitchFamily="34" charset="-120"/>
              </a:rPr>
              <a:t>347</a:t>
            </a:r>
            <a:endParaRPr lang="en-US" sz="2600" dirty="0"/>
          </a:p>
        </p:txBody>
      </p:sp>
      <p:sp>
        <p:nvSpPr>
          <p:cNvPr id="9" name="Text 5"/>
          <p:cNvSpPr/>
          <p:nvPr/>
        </p:nvSpPr>
        <p:spPr>
          <a:xfrm>
            <a:off x="274320" y="4224528"/>
            <a:ext cx="2011680" cy="320040"/>
          </a:xfrm>
          <a:prstGeom prst="rect">
            <a:avLst/>
          </a:prstGeom>
          <a:noFill/>
          <a:ln/>
        </p:spPr>
        <p:txBody>
          <a:bodyPr wrap="square" rtlCol="0" anchor="ctr"/>
          <a:lstStyle/>
          <a:p>
            <a:pPr marL="0" indent="0" algn="ctr">
              <a:buNone/>
            </a:pPr>
            <a:r>
              <a:rPr lang="en-US" sz="1000" dirty="0">
                <a:solidFill>
                  <a:srgbClr val="B0B0B0"/>
                </a:solidFill>
                <a:latin typeface="Calibri" pitchFamily="34" charset="0"/>
                <a:ea typeface="Calibri" pitchFamily="34" charset="-122"/>
                <a:cs typeface="Calibri" pitchFamily="34" charset="-120"/>
              </a:rPr>
              <a:t>Indian Players (63.79%)</a:t>
            </a:r>
            <a:endParaRPr lang="en-US" sz="1000" dirty="0"/>
          </a:p>
        </p:txBody>
      </p:sp>
      <p:sp>
        <p:nvSpPr>
          <p:cNvPr id="10" name="Shape 6"/>
          <p:cNvSpPr/>
          <p:nvPr/>
        </p:nvSpPr>
        <p:spPr>
          <a:xfrm>
            <a:off x="2468880" y="3657600"/>
            <a:ext cx="2011680" cy="1097280"/>
          </a:xfrm>
          <a:prstGeom prst="rect">
            <a:avLst/>
          </a:prstGeom>
          <a:solidFill>
            <a:srgbClr val="26264A"/>
          </a:solidFill>
          <a:ln w="12700">
            <a:solidFill>
              <a:srgbClr val="D4A017"/>
            </a:solidFill>
            <a:prstDash val="solid"/>
          </a:ln>
        </p:spPr>
        <p:txBody>
          <a:bodyPr/>
          <a:lstStyle/>
          <a:p>
            <a:endParaRPr lang="en-US"/>
          </a:p>
        </p:txBody>
      </p:sp>
      <p:sp>
        <p:nvSpPr>
          <p:cNvPr id="11" name="Text 7"/>
          <p:cNvSpPr/>
          <p:nvPr/>
        </p:nvSpPr>
        <p:spPr>
          <a:xfrm>
            <a:off x="2468880" y="3703320"/>
            <a:ext cx="2011680" cy="502920"/>
          </a:xfrm>
          <a:prstGeom prst="rect">
            <a:avLst/>
          </a:prstGeom>
          <a:noFill/>
          <a:ln/>
        </p:spPr>
        <p:txBody>
          <a:bodyPr wrap="square" rtlCol="0" anchor="ctr"/>
          <a:lstStyle/>
          <a:p>
            <a:pPr marL="0" indent="0" algn="ctr">
              <a:buNone/>
            </a:pPr>
            <a:r>
              <a:rPr lang="en-US" sz="2600" b="1" dirty="0">
                <a:solidFill>
                  <a:srgbClr val="E87040"/>
                </a:solidFill>
                <a:latin typeface="Georgia" pitchFamily="34" charset="0"/>
                <a:ea typeface="Georgia" pitchFamily="34" charset="-122"/>
                <a:cs typeface="Georgia" pitchFamily="34" charset="-120"/>
              </a:rPr>
              <a:t>197</a:t>
            </a:r>
            <a:endParaRPr lang="en-US" sz="2600" dirty="0"/>
          </a:p>
        </p:txBody>
      </p:sp>
      <p:sp>
        <p:nvSpPr>
          <p:cNvPr id="12" name="Text 8"/>
          <p:cNvSpPr/>
          <p:nvPr/>
        </p:nvSpPr>
        <p:spPr>
          <a:xfrm>
            <a:off x="2468880" y="4224528"/>
            <a:ext cx="2011680" cy="320040"/>
          </a:xfrm>
          <a:prstGeom prst="rect">
            <a:avLst/>
          </a:prstGeom>
          <a:noFill/>
          <a:ln/>
        </p:spPr>
        <p:txBody>
          <a:bodyPr wrap="square" rtlCol="0" anchor="ctr"/>
          <a:lstStyle/>
          <a:p>
            <a:pPr marL="0" indent="0" algn="ctr">
              <a:buNone/>
            </a:pPr>
            <a:r>
              <a:rPr lang="en-US" sz="1000" dirty="0">
                <a:solidFill>
                  <a:srgbClr val="B0B0B0"/>
                </a:solidFill>
                <a:latin typeface="Calibri" pitchFamily="34" charset="0"/>
                <a:ea typeface="Calibri" pitchFamily="34" charset="-122"/>
                <a:cs typeface="Calibri" pitchFamily="34" charset="-120"/>
              </a:rPr>
              <a:t>Overseas Players (36.21%)</a:t>
            </a:r>
            <a:endParaRPr lang="en-US" sz="1000" dirty="0"/>
          </a:p>
        </p:txBody>
      </p:sp>
      <p:graphicFrame>
        <p:nvGraphicFramePr>
          <p:cNvPr id="13" name="Chart 1"/>
          <p:cNvGraphicFramePr/>
          <p:nvPr/>
        </p:nvGraphicFramePr>
        <p:xfrm>
          <a:off x="4846320" y="3291840"/>
          <a:ext cx="4023360" cy="1645920"/>
        </p:xfrm>
        <a:graphic>
          <a:graphicData uri="http://schemas.openxmlformats.org/drawingml/2006/chart">
            <c:chart xmlns:c="http://schemas.openxmlformats.org/drawingml/2006/chart" xmlns:r="http://schemas.openxmlformats.org/officeDocument/2006/relationships" r:id="rId4"/>
          </a:graphicData>
        </a:graphic>
      </p:graphicFrame>
      <p:sp>
        <p:nvSpPr>
          <p:cNvPr id="14" name="Shape 9"/>
          <p:cNvSpPr/>
          <p:nvPr/>
        </p:nvSpPr>
        <p:spPr>
          <a:xfrm>
            <a:off x="0" y="5033772"/>
            <a:ext cx="9144000" cy="109728"/>
          </a:xfrm>
          <a:prstGeom prst="rect">
            <a:avLst/>
          </a:prstGeom>
          <a:solidFill>
            <a:srgbClr val="D4A017"/>
          </a:solidFill>
          <a:ln w="12700">
            <a:solidFill>
              <a:srgbClr val="D4A017"/>
            </a:solidFill>
            <a:prstDash val="solid"/>
          </a:ln>
        </p:spPr>
        <p:txBody>
          <a:bodyPr/>
          <a:lstStyle/>
          <a:p>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A1A2E"/>
        </a:solidFill>
        <a:effectLst/>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D4A017"/>
          </a:solidFill>
          <a:ln w="12700">
            <a:solidFill>
              <a:srgbClr val="D4A017"/>
            </a:solidFill>
            <a:prstDash val="solid"/>
          </a:ln>
        </p:spPr>
        <p:txBody>
          <a:bodyPr/>
          <a:lstStyle/>
          <a:p>
            <a:endParaRPr lang="en-US"/>
          </a:p>
        </p:txBody>
      </p:sp>
      <p:sp>
        <p:nvSpPr>
          <p:cNvPr id="3" name="Text 1"/>
          <p:cNvSpPr/>
          <p:nvPr/>
        </p:nvSpPr>
        <p:spPr>
          <a:xfrm>
            <a:off x="274320" y="182880"/>
            <a:ext cx="8595360" cy="502920"/>
          </a:xfrm>
          <a:prstGeom prst="rect">
            <a:avLst/>
          </a:prstGeom>
          <a:noFill/>
          <a:ln/>
        </p:spPr>
        <p:txBody>
          <a:bodyPr wrap="square" rtlCol="0" anchor="ctr"/>
          <a:lstStyle/>
          <a:p>
            <a:pPr marL="0" indent="0" algn="ctr">
              <a:buNone/>
            </a:pPr>
            <a:r>
              <a:rPr lang="en-US" sz="2400" b="1" dirty="0">
                <a:solidFill>
                  <a:srgbClr val="F5C842"/>
                </a:solidFill>
                <a:latin typeface="Georgia" pitchFamily="34" charset="0"/>
                <a:ea typeface="Georgia" pitchFamily="34" charset="-122"/>
                <a:cs typeface="Georgia" pitchFamily="34" charset="-120"/>
              </a:rPr>
              <a:t>TEAM ANALYSIS DASHBOARD</a:t>
            </a:r>
            <a:endParaRPr lang="en-US" sz="2400" dirty="0"/>
          </a:p>
        </p:txBody>
      </p:sp>
      <p:sp>
        <p:nvSpPr>
          <p:cNvPr id="5" name="Shape 2"/>
          <p:cNvSpPr/>
          <p:nvPr/>
        </p:nvSpPr>
        <p:spPr>
          <a:xfrm>
            <a:off x="0" y="5033772"/>
            <a:ext cx="9144000" cy="109728"/>
          </a:xfrm>
          <a:prstGeom prst="rect">
            <a:avLst/>
          </a:prstGeom>
          <a:solidFill>
            <a:srgbClr val="D4A017"/>
          </a:solidFill>
          <a:ln w="12700">
            <a:solidFill>
              <a:srgbClr val="D4A017"/>
            </a:solidFill>
            <a:prstDash val="solid"/>
          </a:ln>
        </p:spPr>
        <p:txBody>
          <a:bodyPr/>
          <a:lstStyle/>
          <a:p>
            <a:endParaRPr lang="en-US"/>
          </a:p>
        </p:txBody>
      </p:sp>
      <p:pic>
        <p:nvPicPr>
          <p:cNvPr id="9" name="Picture 8">
            <a:extLst>
              <a:ext uri="{FF2B5EF4-FFF2-40B4-BE49-F238E27FC236}">
                <a16:creationId xmlns:a16="http://schemas.microsoft.com/office/drawing/2014/main" id="{EF32C45E-27CB-DA4F-D917-49D711D1E75F}"/>
              </a:ext>
            </a:extLst>
          </p:cNvPr>
          <p:cNvPicPr>
            <a:picLocks noChangeAspect="1"/>
          </p:cNvPicPr>
          <p:nvPr/>
        </p:nvPicPr>
        <p:blipFill>
          <a:blip r:embed="rId3"/>
          <a:stretch>
            <a:fillRect/>
          </a:stretch>
        </p:blipFill>
        <p:spPr>
          <a:xfrm>
            <a:off x="464180" y="559044"/>
            <a:ext cx="8215640" cy="4401576"/>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A1A2E"/>
        </a:solidFill>
        <a:effectLst/>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D4A017"/>
          </a:solidFill>
          <a:ln w="12700">
            <a:solidFill>
              <a:srgbClr val="D4A017"/>
            </a:solidFill>
            <a:prstDash val="solid"/>
          </a:ln>
        </p:spPr>
        <p:txBody>
          <a:bodyPr/>
          <a:lstStyle/>
          <a:p>
            <a:endParaRPr lang="en-US"/>
          </a:p>
        </p:txBody>
      </p:sp>
      <p:sp>
        <p:nvSpPr>
          <p:cNvPr id="3" name="Text 1"/>
          <p:cNvSpPr/>
          <p:nvPr/>
        </p:nvSpPr>
        <p:spPr>
          <a:xfrm>
            <a:off x="457200" y="182880"/>
            <a:ext cx="8229600" cy="502920"/>
          </a:xfrm>
          <a:prstGeom prst="rect">
            <a:avLst/>
          </a:prstGeom>
          <a:noFill/>
          <a:ln/>
        </p:spPr>
        <p:txBody>
          <a:bodyPr wrap="square" rtlCol="0" anchor="ctr"/>
          <a:lstStyle/>
          <a:p>
            <a:pPr marL="0" indent="0" algn="ctr">
              <a:buNone/>
            </a:pPr>
            <a:r>
              <a:rPr lang="en-US" sz="2600" b="1" dirty="0">
                <a:solidFill>
                  <a:srgbClr val="F5C842"/>
                </a:solidFill>
                <a:latin typeface="Georgia" pitchFamily="34" charset="0"/>
                <a:ea typeface="Georgia" pitchFamily="34" charset="-122"/>
                <a:cs typeface="Georgia" pitchFamily="34" charset="-120"/>
              </a:rPr>
              <a:t>FRANCHISE SPENDING ANALYSIS</a:t>
            </a:r>
            <a:endParaRPr lang="en-US" sz="2600" dirty="0"/>
          </a:p>
        </p:txBody>
      </p:sp>
      <p:graphicFrame>
        <p:nvGraphicFramePr>
          <p:cNvPr id="4" name="Chart 0"/>
          <p:cNvGraphicFramePr/>
          <p:nvPr/>
        </p:nvGraphicFramePr>
        <p:xfrm>
          <a:off x="274320" y="777240"/>
          <a:ext cx="5303520" cy="402336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5" name="Chart 1"/>
          <p:cNvGraphicFramePr/>
          <p:nvPr/>
        </p:nvGraphicFramePr>
        <p:xfrm>
          <a:off x="5669280" y="777240"/>
          <a:ext cx="3200400" cy="2103120"/>
        </p:xfrm>
        <a:graphic>
          <a:graphicData uri="http://schemas.openxmlformats.org/drawingml/2006/chart">
            <c:chart xmlns:c="http://schemas.openxmlformats.org/drawingml/2006/chart" xmlns:r="http://schemas.openxmlformats.org/officeDocument/2006/relationships" r:id="rId4"/>
          </a:graphicData>
        </a:graphic>
      </p:graphicFrame>
      <p:sp>
        <p:nvSpPr>
          <p:cNvPr id="6" name="Text 2"/>
          <p:cNvSpPr/>
          <p:nvPr/>
        </p:nvSpPr>
        <p:spPr>
          <a:xfrm>
            <a:off x="5669280" y="2971800"/>
            <a:ext cx="3200400" cy="320040"/>
          </a:xfrm>
          <a:prstGeom prst="rect">
            <a:avLst/>
          </a:prstGeom>
          <a:noFill/>
          <a:ln/>
        </p:spPr>
        <p:txBody>
          <a:bodyPr wrap="square" rtlCol="0" anchor="ctr"/>
          <a:lstStyle/>
          <a:p>
            <a:pPr marL="0" indent="0">
              <a:buNone/>
            </a:pPr>
            <a:r>
              <a:rPr lang="en-US" sz="1300" b="1" dirty="0">
                <a:solidFill>
                  <a:srgbClr val="D4A017"/>
                </a:solidFill>
                <a:latin typeface="Calibri" pitchFamily="34" charset="0"/>
                <a:ea typeface="Calibri" pitchFamily="34" charset="-122"/>
                <a:cs typeface="Calibri" pitchFamily="34" charset="-120"/>
              </a:rPr>
              <a:t>Key Insights</a:t>
            </a:r>
            <a:endParaRPr lang="en-US" sz="1300" dirty="0"/>
          </a:p>
        </p:txBody>
      </p:sp>
      <p:sp>
        <p:nvSpPr>
          <p:cNvPr id="7" name="Text 3"/>
          <p:cNvSpPr/>
          <p:nvPr/>
        </p:nvSpPr>
        <p:spPr>
          <a:xfrm>
            <a:off x="5669280" y="3291840"/>
            <a:ext cx="3200400" cy="1554480"/>
          </a:xfrm>
          <a:prstGeom prst="rect">
            <a:avLst/>
          </a:prstGeom>
          <a:noFill/>
          <a:ln/>
        </p:spPr>
        <p:txBody>
          <a:bodyPr wrap="square" rtlCol="0" anchor="ctr"/>
          <a:lstStyle/>
          <a:p>
            <a:pPr marL="342900" indent="-342900">
              <a:buSzPct val="100000"/>
              <a:buChar char="•"/>
            </a:pPr>
            <a:r>
              <a:rPr lang="en-US" sz="1100" dirty="0">
                <a:solidFill>
                  <a:srgbClr val="FFFFFF"/>
                </a:solidFill>
                <a:latin typeface="Calibri" pitchFamily="34" charset="0"/>
                <a:ea typeface="Calibri" pitchFamily="34" charset="-122"/>
                <a:cs typeface="Calibri" pitchFamily="34" charset="-120"/>
              </a:rPr>
              <a:t>Punjab Kings leads with ₹3.0Bn total spend</a:t>
            </a:r>
            <a:endParaRPr lang="en-US" sz="1100" dirty="0"/>
          </a:p>
          <a:p>
            <a:pPr marL="342900" indent="-342900">
              <a:buSzPct val="100000"/>
              <a:buChar char="•"/>
            </a:pPr>
            <a:r>
              <a:rPr lang="en-US" sz="1100" dirty="0">
                <a:solidFill>
                  <a:srgbClr val="FFFFFF"/>
                </a:solidFill>
                <a:latin typeface="Calibri" pitchFamily="34" charset="0"/>
                <a:ea typeface="Calibri" pitchFamily="34" charset="-122"/>
                <a:cs typeface="Calibri" pitchFamily="34" charset="-120"/>
              </a:rPr>
              <a:t>All-Rounders attract 38.68% of total budget</a:t>
            </a:r>
            <a:endParaRPr lang="en-US" sz="1100" dirty="0"/>
          </a:p>
          <a:p>
            <a:pPr marL="342900" indent="-342900">
              <a:buSzPct val="100000"/>
              <a:buChar char="•"/>
            </a:pPr>
            <a:r>
              <a:rPr lang="en-US" sz="1100" dirty="0">
                <a:solidFill>
                  <a:srgbClr val="FFFFFF"/>
                </a:solidFill>
                <a:latin typeface="Calibri" pitchFamily="34" charset="0"/>
                <a:ea typeface="Calibri" pitchFamily="34" charset="-122"/>
                <a:cs typeface="Calibri" pitchFamily="34" charset="-120"/>
              </a:rPr>
              <a:t>Bowlers command 33.77% of spending</a:t>
            </a:r>
            <a:endParaRPr lang="en-US" sz="1100" dirty="0"/>
          </a:p>
          <a:p>
            <a:pPr marL="342900" indent="-342900">
              <a:buSzPct val="100000"/>
              <a:buChar char="•"/>
            </a:pPr>
            <a:r>
              <a:rPr lang="en-US" sz="1100" dirty="0">
                <a:solidFill>
                  <a:srgbClr val="FFFFFF"/>
                </a:solidFill>
                <a:latin typeface="Calibri" pitchFamily="34" charset="0"/>
                <a:ea typeface="Calibri" pitchFamily="34" charset="-122"/>
                <a:cs typeface="Calibri" pitchFamily="34" charset="-120"/>
              </a:rPr>
              <a:t>2022 season saw highest spend at ₹562 Cr</a:t>
            </a:r>
            <a:endParaRPr lang="en-US" sz="1100" dirty="0"/>
          </a:p>
        </p:txBody>
      </p:sp>
      <p:sp>
        <p:nvSpPr>
          <p:cNvPr id="8" name="Shape 4"/>
          <p:cNvSpPr/>
          <p:nvPr/>
        </p:nvSpPr>
        <p:spPr>
          <a:xfrm>
            <a:off x="0" y="5033772"/>
            <a:ext cx="9144000" cy="109728"/>
          </a:xfrm>
          <a:prstGeom prst="rect">
            <a:avLst/>
          </a:prstGeom>
          <a:solidFill>
            <a:srgbClr val="D4A017"/>
          </a:solidFill>
          <a:ln w="12700">
            <a:solidFill>
              <a:srgbClr val="D4A017"/>
            </a:solidFill>
            <a:prstDash val="solid"/>
          </a:ln>
        </p:spPr>
        <p:txBody>
          <a:bodyPr/>
          <a:lstStyle/>
          <a:p>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A1A2E"/>
        </a:solidFill>
        <a:effectLst/>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D4A017"/>
          </a:solidFill>
          <a:ln w="12700">
            <a:solidFill>
              <a:srgbClr val="D4A017"/>
            </a:solidFill>
            <a:prstDash val="solid"/>
          </a:ln>
        </p:spPr>
        <p:txBody>
          <a:bodyPr/>
          <a:lstStyle/>
          <a:p>
            <a:endParaRPr lang="en-US"/>
          </a:p>
        </p:txBody>
      </p:sp>
      <p:sp>
        <p:nvSpPr>
          <p:cNvPr id="3" name="Text 1"/>
          <p:cNvSpPr/>
          <p:nvPr/>
        </p:nvSpPr>
        <p:spPr>
          <a:xfrm>
            <a:off x="274320" y="182880"/>
            <a:ext cx="8595360" cy="502920"/>
          </a:xfrm>
          <a:prstGeom prst="rect">
            <a:avLst/>
          </a:prstGeom>
          <a:noFill/>
          <a:ln/>
        </p:spPr>
        <p:txBody>
          <a:bodyPr wrap="square" rtlCol="0" anchor="ctr"/>
          <a:lstStyle/>
          <a:p>
            <a:pPr marL="0" indent="0" algn="ctr">
              <a:buNone/>
            </a:pPr>
            <a:r>
              <a:rPr lang="en-US" sz="2400" b="1" dirty="0">
                <a:solidFill>
                  <a:srgbClr val="F5C842"/>
                </a:solidFill>
                <a:latin typeface="Georgia" pitchFamily="34" charset="0"/>
                <a:ea typeface="Georgia" pitchFamily="34" charset="-122"/>
                <a:cs typeface="Georgia" pitchFamily="34" charset="-120"/>
              </a:rPr>
              <a:t>PRICE BRACKET &amp; AUCTION EXPLORER</a:t>
            </a:r>
            <a:endParaRPr lang="en-US" sz="2400" dirty="0"/>
          </a:p>
        </p:txBody>
      </p:sp>
      <p:sp>
        <p:nvSpPr>
          <p:cNvPr id="5" name="Shape 2"/>
          <p:cNvSpPr/>
          <p:nvPr/>
        </p:nvSpPr>
        <p:spPr>
          <a:xfrm>
            <a:off x="0" y="5033772"/>
            <a:ext cx="9144000" cy="109728"/>
          </a:xfrm>
          <a:prstGeom prst="rect">
            <a:avLst/>
          </a:prstGeom>
          <a:solidFill>
            <a:srgbClr val="D4A017"/>
          </a:solidFill>
          <a:ln w="12700">
            <a:solidFill>
              <a:srgbClr val="D4A017"/>
            </a:solidFill>
            <a:prstDash val="solid"/>
          </a:ln>
        </p:spPr>
        <p:txBody>
          <a:bodyPr/>
          <a:lstStyle/>
          <a:p>
            <a:endParaRPr lang="en-US"/>
          </a:p>
        </p:txBody>
      </p:sp>
      <p:pic>
        <p:nvPicPr>
          <p:cNvPr id="7" name="Picture 6">
            <a:extLst>
              <a:ext uri="{FF2B5EF4-FFF2-40B4-BE49-F238E27FC236}">
                <a16:creationId xmlns:a16="http://schemas.microsoft.com/office/drawing/2014/main" id="{0BD9E5FF-3AB4-622F-A3A2-BF913D4906DD}"/>
              </a:ext>
            </a:extLst>
          </p:cNvPr>
          <p:cNvPicPr>
            <a:picLocks noChangeAspect="1"/>
          </p:cNvPicPr>
          <p:nvPr/>
        </p:nvPicPr>
        <p:blipFill>
          <a:blip r:embed="rId3"/>
          <a:stretch>
            <a:fillRect/>
          </a:stretch>
        </p:blipFill>
        <p:spPr>
          <a:xfrm>
            <a:off x="376927" y="561325"/>
            <a:ext cx="8187719" cy="439929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A1A2E"/>
        </a:solidFill>
        <a:effectLst/>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D4A017"/>
          </a:solidFill>
          <a:ln w="12700">
            <a:solidFill>
              <a:srgbClr val="D4A017"/>
            </a:solidFill>
            <a:prstDash val="solid"/>
          </a:ln>
        </p:spPr>
        <p:txBody>
          <a:bodyPr/>
          <a:lstStyle/>
          <a:p>
            <a:endParaRPr lang="en-US"/>
          </a:p>
        </p:txBody>
      </p:sp>
      <p:sp>
        <p:nvSpPr>
          <p:cNvPr id="3" name="Text 1"/>
          <p:cNvSpPr/>
          <p:nvPr/>
        </p:nvSpPr>
        <p:spPr>
          <a:xfrm>
            <a:off x="457200" y="182880"/>
            <a:ext cx="8229600" cy="502920"/>
          </a:xfrm>
          <a:prstGeom prst="rect">
            <a:avLst/>
          </a:prstGeom>
          <a:noFill/>
          <a:ln/>
        </p:spPr>
        <p:txBody>
          <a:bodyPr wrap="square" rtlCol="0" anchor="ctr"/>
          <a:lstStyle/>
          <a:p>
            <a:pPr marL="0" indent="0" algn="ctr">
              <a:buNone/>
            </a:pPr>
            <a:r>
              <a:rPr lang="en-US" sz="2600" b="1" dirty="0">
                <a:solidFill>
                  <a:srgbClr val="F5C842"/>
                </a:solidFill>
                <a:latin typeface="Georgia" pitchFamily="34" charset="0"/>
                <a:ea typeface="Georgia" pitchFamily="34" charset="-122"/>
                <a:cs typeface="Georgia" pitchFamily="34" charset="-120"/>
              </a:rPr>
              <a:t>PRICE BRACKET DISTRIBUTION</a:t>
            </a:r>
            <a:endParaRPr lang="en-US" sz="2600" dirty="0"/>
          </a:p>
        </p:txBody>
      </p:sp>
      <p:graphicFrame>
        <p:nvGraphicFramePr>
          <p:cNvPr id="4" name="Chart 0"/>
          <p:cNvGraphicFramePr/>
          <p:nvPr/>
        </p:nvGraphicFramePr>
        <p:xfrm>
          <a:off x="274320" y="777240"/>
          <a:ext cx="5486400" cy="4023360"/>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 2"/>
          <p:cNvSpPr/>
          <p:nvPr/>
        </p:nvSpPr>
        <p:spPr>
          <a:xfrm>
            <a:off x="5943600" y="777240"/>
            <a:ext cx="3017520" cy="365760"/>
          </a:xfrm>
          <a:prstGeom prst="rect">
            <a:avLst/>
          </a:prstGeom>
          <a:noFill/>
          <a:ln/>
        </p:spPr>
        <p:txBody>
          <a:bodyPr wrap="square" rtlCol="0" anchor="ctr"/>
          <a:lstStyle/>
          <a:p>
            <a:pPr marL="0" indent="0">
              <a:buNone/>
            </a:pPr>
            <a:r>
              <a:rPr lang="en-US" sz="1400" b="1" dirty="0">
                <a:solidFill>
                  <a:srgbClr val="D4A017"/>
                </a:solidFill>
                <a:latin typeface="Calibri" pitchFamily="34" charset="0"/>
                <a:ea typeface="Calibri" pitchFamily="34" charset="-122"/>
                <a:cs typeface="Calibri" pitchFamily="34" charset="-120"/>
              </a:rPr>
              <a:t>Bracket Highlights</a:t>
            </a:r>
            <a:endParaRPr lang="en-US" sz="1400" dirty="0"/>
          </a:p>
        </p:txBody>
      </p:sp>
      <p:sp>
        <p:nvSpPr>
          <p:cNvPr id="6" name="Shape 3"/>
          <p:cNvSpPr/>
          <p:nvPr/>
        </p:nvSpPr>
        <p:spPr>
          <a:xfrm>
            <a:off x="5943600" y="1234440"/>
            <a:ext cx="3017520" cy="777240"/>
          </a:xfrm>
          <a:prstGeom prst="rect">
            <a:avLst/>
          </a:prstGeom>
          <a:solidFill>
            <a:srgbClr val="26264A"/>
          </a:solidFill>
          <a:ln w="12700">
            <a:solidFill>
              <a:srgbClr val="D4A017"/>
            </a:solidFill>
            <a:prstDash val="solid"/>
          </a:ln>
        </p:spPr>
        <p:txBody>
          <a:bodyPr/>
          <a:lstStyle/>
          <a:p>
            <a:endParaRPr lang="en-US"/>
          </a:p>
        </p:txBody>
      </p:sp>
      <p:sp>
        <p:nvSpPr>
          <p:cNvPr id="7" name="Text 4"/>
          <p:cNvSpPr/>
          <p:nvPr/>
        </p:nvSpPr>
        <p:spPr>
          <a:xfrm>
            <a:off x="6035040" y="1261872"/>
            <a:ext cx="2834640" cy="274320"/>
          </a:xfrm>
          <a:prstGeom prst="rect">
            <a:avLst/>
          </a:prstGeom>
          <a:noFill/>
          <a:ln/>
        </p:spPr>
        <p:txBody>
          <a:bodyPr wrap="square" rtlCol="0" anchor="ctr"/>
          <a:lstStyle/>
          <a:p>
            <a:pPr marL="0" indent="0">
              <a:buNone/>
            </a:pPr>
            <a:r>
              <a:rPr lang="en-US" sz="1200" b="1" dirty="0">
                <a:solidFill>
                  <a:srgbClr val="F5C842"/>
                </a:solidFill>
                <a:latin typeface="Calibri" pitchFamily="34" charset="0"/>
                <a:ea typeface="Calibri" pitchFamily="34" charset="-122"/>
                <a:cs typeface="Calibri" pitchFamily="34" charset="-120"/>
              </a:rPr>
              <a:t>2 – 5 Cr</a:t>
            </a:r>
            <a:endParaRPr lang="en-US" sz="1200" dirty="0"/>
          </a:p>
        </p:txBody>
      </p:sp>
      <p:sp>
        <p:nvSpPr>
          <p:cNvPr id="8" name="Text 5"/>
          <p:cNvSpPr/>
          <p:nvPr/>
        </p:nvSpPr>
        <p:spPr>
          <a:xfrm>
            <a:off x="6035040" y="1536192"/>
            <a:ext cx="2834640" cy="274320"/>
          </a:xfrm>
          <a:prstGeom prst="rect">
            <a:avLst/>
          </a:prstGeom>
          <a:noFill/>
          <a:ln/>
        </p:spPr>
        <p:txBody>
          <a:bodyPr wrap="square" rtlCol="0" anchor="ctr"/>
          <a:lstStyle/>
          <a:p>
            <a:pPr marL="0" indent="0">
              <a:buNone/>
            </a:pPr>
            <a:r>
              <a:rPr lang="en-US" sz="1000" dirty="0">
                <a:solidFill>
                  <a:srgbClr val="B0B0B0"/>
                </a:solidFill>
                <a:latin typeface="Calibri" pitchFamily="34" charset="0"/>
                <a:ea typeface="Calibri" pitchFamily="34" charset="-122"/>
                <a:cs typeface="Calibri" pitchFamily="34" charset="-120"/>
              </a:rPr>
              <a:t>302 players  •  Most Common</a:t>
            </a:r>
            <a:endParaRPr lang="en-US" sz="1000" dirty="0"/>
          </a:p>
        </p:txBody>
      </p:sp>
      <p:sp>
        <p:nvSpPr>
          <p:cNvPr id="9" name="Shape 6"/>
          <p:cNvSpPr/>
          <p:nvPr/>
        </p:nvSpPr>
        <p:spPr>
          <a:xfrm>
            <a:off x="5943600" y="2148840"/>
            <a:ext cx="3017520" cy="777240"/>
          </a:xfrm>
          <a:prstGeom prst="rect">
            <a:avLst/>
          </a:prstGeom>
          <a:solidFill>
            <a:srgbClr val="26264A"/>
          </a:solidFill>
          <a:ln w="12700">
            <a:solidFill>
              <a:srgbClr val="D4A017"/>
            </a:solidFill>
            <a:prstDash val="solid"/>
          </a:ln>
        </p:spPr>
        <p:txBody>
          <a:bodyPr/>
          <a:lstStyle/>
          <a:p>
            <a:endParaRPr lang="en-US"/>
          </a:p>
        </p:txBody>
      </p:sp>
      <p:sp>
        <p:nvSpPr>
          <p:cNvPr id="10" name="Text 7"/>
          <p:cNvSpPr/>
          <p:nvPr/>
        </p:nvSpPr>
        <p:spPr>
          <a:xfrm>
            <a:off x="6035040" y="2176272"/>
            <a:ext cx="2834640" cy="274320"/>
          </a:xfrm>
          <a:prstGeom prst="rect">
            <a:avLst/>
          </a:prstGeom>
          <a:noFill/>
          <a:ln/>
        </p:spPr>
        <p:txBody>
          <a:bodyPr wrap="square" rtlCol="0" anchor="ctr"/>
          <a:lstStyle/>
          <a:p>
            <a:pPr marL="0" indent="0">
              <a:buNone/>
            </a:pPr>
            <a:r>
              <a:rPr lang="en-US" sz="1200" b="1" dirty="0">
                <a:solidFill>
                  <a:srgbClr val="F5C842"/>
                </a:solidFill>
                <a:latin typeface="Calibri" pitchFamily="34" charset="0"/>
                <a:ea typeface="Calibri" pitchFamily="34" charset="-122"/>
                <a:cs typeface="Calibri" pitchFamily="34" charset="-120"/>
              </a:rPr>
              <a:t>1 – 2 Cr</a:t>
            </a:r>
            <a:endParaRPr lang="en-US" sz="1200" dirty="0"/>
          </a:p>
        </p:txBody>
      </p:sp>
      <p:sp>
        <p:nvSpPr>
          <p:cNvPr id="11" name="Text 8"/>
          <p:cNvSpPr/>
          <p:nvPr/>
        </p:nvSpPr>
        <p:spPr>
          <a:xfrm>
            <a:off x="6035040" y="2450592"/>
            <a:ext cx="2834640" cy="274320"/>
          </a:xfrm>
          <a:prstGeom prst="rect">
            <a:avLst/>
          </a:prstGeom>
          <a:noFill/>
          <a:ln/>
        </p:spPr>
        <p:txBody>
          <a:bodyPr wrap="square" rtlCol="0" anchor="ctr"/>
          <a:lstStyle/>
          <a:p>
            <a:pPr marL="0" indent="0">
              <a:buNone/>
            </a:pPr>
            <a:r>
              <a:rPr lang="en-US" sz="1000" dirty="0">
                <a:solidFill>
                  <a:srgbClr val="B0B0B0"/>
                </a:solidFill>
                <a:latin typeface="Calibri" pitchFamily="34" charset="0"/>
                <a:ea typeface="Calibri" pitchFamily="34" charset="-122"/>
                <a:cs typeface="Calibri" pitchFamily="34" charset="-120"/>
              </a:rPr>
              <a:t>227 players  •  2nd Most</a:t>
            </a:r>
            <a:endParaRPr lang="en-US" sz="1000" dirty="0"/>
          </a:p>
        </p:txBody>
      </p:sp>
      <p:sp>
        <p:nvSpPr>
          <p:cNvPr id="12" name="Shape 9"/>
          <p:cNvSpPr/>
          <p:nvPr/>
        </p:nvSpPr>
        <p:spPr>
          <a:xfrm>
            <a:off x="5943600" y="3063240"/>
            <a:ext cx="3017520" cy="777240"/>
          </a:xfrm>
          <a:prstGeom prst="rect">
            <a:avLst/>
          </a:prstGeom>
          <a:solidFill>
            <a:srgbClr val="26264A"/>
          </a:solidFill>
          <a:ln w="12700">
            <a:solidFill>
              <a:srgbClr val="D4A017"/>
            </a:solidFill>
            <a:prstDash val="solid"/>
          </a:ln>
        </p:spPr>
        <p:txBody>
          <a:bodyPr/>
          <a:lstStyle/>
          <a:p>
            <a:endParaRPr lang="en-US"/>
          </a:p>
        </p:txBody>
      </p:sp>
      <p:sp>
        <p:nvSpPr>
          <p:cNvPr id="13" name="Text 10"/>
          <p:cNvSpPr/>
          <p:nvPr/>
        </p:nvSpPr>
        <p:spPr>
          <a:xfrm>
            <a:off x="6035040" y="3090672"/>
            <a:ext cx="2834640" cy="274320"/>
          </a:xfrm>
          <a:prstGeom prst="rect">
            <a:avLst/>
          </a:prstGeom>
          <a:noFill/>
          <a:ln/>
        </p:spPr>
        <p:txBody>
          <a:bodyPr wrap="square" rtlCol="0" anchor="ctr"/>
          <a:lstStyle/>
          <a:p>
            <a:pPr marL="0" indent="0">
              <a:buNone/>
            </a:pPr>
            <a:r>
              <a:rPr lang="en-US" sz="1200" b="1" dirty="0">
                <a:solidFill>
                  <a:srgbClr val="F5C842"/>
                </a:solidFill>
                <a:latin typeface="Calibri" pitchFamily="34" charset="0"/>
                <a:ea typeface="Calibri" pitchFamily="34" charset="-122"/>
                <a:cs typeface="Calibri" pitchFamily="34" charset="-120"/>
              </a:rPr>
              <a:t>Under 1 Cr</a:t>
            </a:r>
            <a:endParaRPr lang="en-US" sz="1200" dirty="0"/>
          </a:p>
        </p:txBody>
      </p:sp>
      <p:sp>
        <p:nvSpPr>
          <p:cNvPr id="14" name="Text 11"/>
          <p:cNvSpPr/>
          <p:nvPr/>
        </p:nvSpPr>
        <p:spPr>
          <a:xfrm>
            <a:off x="6035040" y="3364992"/>
            <a:ext cx="2834640" cy="274320"/>
          </a:xfrm>
          <a:prstGeom prst="rect">
            <a:avLst/>
          </a:prstGeom>
          <a:noFill/>
          <a:ln/>
        </p:spPr>
        <p:txBody>
          <a:bodyPr wrap="square" rtlCol="0" anchor="ctr"/>
          <a:lstStyle/>
          <a:p>
            <a:pPr marL="0" indent="0">
              <a:buNone/>
            </a:pPr>
            <a:r>
              <a:rPr lang="en-US" sz="1000" dirty="0">
                <a:solidFill>
                  <a:srgbClr val="B0B0B0"/>
                </a:solidFill>
                <a:latin typeface="Calibri" pitchFamily="34" charset="0"/>
                <a:ea typeface="Calibri" pitchFamily="34" charset="-122"/>
                <a:cs typeface="Calibri" pitchFamily="34" charset="-120"/>
              </a:rPr>
              <a:t>193 players  •  Budget Picks</a:t>
            </a:r>
            <a:endParaRPr lang="en-US" sz="1000" dirty="0"/>
          </a:p>
        </p:txBody>
      </p:sp>
      <p:sp>
        <p:nvSpPr>
          <p:cNvPr id="15" name="Shape 12"/>
          <p:cNvSpPr/>
          <p:nvPr/>
        </p:nvSpPr>
        <p:spPr>
          <a:xfrm>
            <a:off x="5943600" y="3977640"/>
            <a:ext cx="3017520" cy="777240"/>
          </a:xfrm>
          <a:prstGeom prst="rect">
            <a:avLst/>
          </a:prstGeom>
          <a:solidFill>
            <a:srgbClr val="26264A"/>
          </a:solidFill>
          <a:ln w="12700">
            <a:solidFill>
              <a:srgbClr val="D4A017"/>
            </a:solidFill>
            <a:prstDash val="solid"/>
          </a:ln>
        </p:spPr>
        <p:txBody>
          <a:bodyPr/>
          <a:lstStyle/>
          <a:p>
            <a:endParaRPr lang="en-US"/>
          </a:p>
        </p:txBody>
      </p:sp>
      <p:sp>
        <p:nvSpPr>
          <p:cNvPr id="16" name="Text 13"/>
          <p:cNvSpPr/>
          <p:nvPr/>
        </p:nvSpPr>
        <p:spPr>
          <a:xfrm>
            <a:off x="6035040" y="4005072"/>
            <a:ext cx="2834640" cy="274320"/>
          </a:xfrm>
          <a:prstGeom prst="rect">
            <a:avLst/>
          </a:prstGeom>
          <a:noFill/>
          <a:ln/>
        </p:spPr>
        <p:txBody>
          <a:bodyPr wrap="square" rtlCol="0" anchor="ctr"/>
          <a:lstStyle/>
          <a:p>
            <a:pPr marL="0" indent="0">
              <a:buNone/>
            </a:pPr>
            <a:r>
              <a:rPr lang="en-US" sz="1200" b="1" dirty="0">
                <a:solidFill>
                  <a:srgbClr val="F5C842"/>
                </a:solidFill>
                <a:latin typeface="Calibri" pitchFamily="34" charset="0"/>
                <a:ea typeface="Calibri" pitchFamily="34" charset="-122"/>
                <a:cs typeface="Calibri" pitchFamily="34" charset="-120"/>
              </a:rPr>
              <a:t>Above 15 Cr</a:t>
            </a:r>
            <a:endParaRPr lang="en-US" sz="1200" dirty="0"/>
          </a:p>
        </p:txBody>
      </p:sp>
      <p:sp>
        <p:nvSpPr>
          <p:cNvPr id="17" name="Text 14"/>
          <p:cNvSpPr/>
          <p:nvPr/>
        </p:nvSpPr>
        <p:spPr>
          <a:xfrm>
            <a:off x="6035040" y="4279392"/>
            <a:ext cx="2834640" cy="274320"/>
          </a:xfrm>
          <a:prstGeom prst="rect">
            <a:avLst/>
          </a:prstGeom>
          <a:noFill/>
          <a:ln/>
        </p:spPr>
        <p:txBody>
          <a:bodyPr wrap="square" rtlCol="0" anchor="ctr"/>
          <a:lstStyle/>
          <a:p>
            <a:pPr marL="0" indent="0">
              <a:buNone/>
            </a:pPr>
            <a:r>
              <a:rPr lang="en-US" sz="1000" dirty="0">
                <a:solidFill>
                  <a:srgbClr val="B0B0B0"/>
                </a:solidFill>
                <a:latin typeface="Calibri" pitchFamily="34" charset="0"/>
                <a:ea typeface="Calibri" pitchFamily="34" charset="-122"/>
                <a:cs typeface="Calibri" pitchFamily="34" charset="-120"/>
              </a:rPr>
              <a:t>22 players  •  Elite Players</a:t>
            </a:r>
            <a:endParaRPr lang="en-US" sz="1000" dirty="0"/>
          </a:p>
        </p:txBody>
      </p:sp>
      <p:sp>
        <p:nvSpPr>
          <p:cNvPr id="18" name="Shape 15"/>
          <p:cNvSpPr/>
          <p:nvPr/>
        </p:nvSpPr>
        <p:spPr>
          <a:xfrm>
            <a:off x="0" y="5033772"/>
            <a:ext cx="9144000" cy="109728"/>
          </a:xfrm>
          <a:prstGeom prst="rect">
            <a:avLst/>
          </a:prstGeom>
          <a:solidFill>
            <a:srgbClr val="D4A017"/>
          </a:solidFill>
          <a:ln w="12700">
            <a:solidFill>
              <a:srgbClr val="D4A017"/>
            </a:solidFill>
            <a:prstDash val="solid"/>
          </a:ln>
        </p:spPr>
        <p:txBody>
          <a:bodyPr/>
          <a:lstStyle/>
          <a:p>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bg>
      <p:bgPr>
        <a:solidFill>
          <a:srgbClr val="1A1A2E"/>
        </a:solidFill>
        <a:effectLst/>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D4A017"/>
          </a:solidFill>
          <a:ln w="12700">
            <a:solidFill>
              <a:srgbClr val="D4A017"/>
            </a:solidFill>
            <a:prstDash val="solid"/>
          </a:ln>
        </p:spPr>
        <p:txBody>
          <a:bodyPr/>
          <a:lstStyle/>
          <a:p>
            <a:endParaRPr lang="en-US"/>
          </a:p>
        </p:txBody>
      </p:sp>
      <p:sp>
        <p:nvSpPr>
          <p:cNvPr id="3" name="Text 1"/>
          <p:cNvSpPr/>
          <p:nvPr/>
        </p:nvSpPr>
        <p:spPr>
          <a:xfrm>
            <a:off x="457200" y="182880"/>
            <a:ext cx="8229600" cy="502920"/>
          </a:xfrm>
          <a:prstGeom prst="rect">
            <a:avLst/>
          </a:prstGeom>
          <a:noFill/>
          <a:ln/>
        </p:spPr>
        <p:txBody>
          <a:bodyPr wrap="square" rtlCol="0" anchor="ctr"/>
          <a:lstStyle/>
          <a:p>
            <a:pPr marL="0" indent="0" algn="ctr">
              <a:buNone/>
            </a:pPr>
            <a:r>
              <a:rPr lang="en-US" sz="2600" b="1" dirty="0">
                <a:solidFill>
                  <a:srgbClr val="F5C842"/>
                </a:solidFill>
                <a:latin typeface="Georgia" pitchFamily="34" charset="0"/>
                <a:ea typeface="Georgia" pitchFamily="34" charset="-122"/>
                <a:cs typeface="Georgia" pitchFamily="34" charset="-120"/>
              </a:rPr>
              <a:t>CONCLUSION</a:t>
            </a:r>
            <a:endParaRPr lang="en-US" sz="2600" dirty="0"/>
          </a:p>
        </p:txBody>
      </p:sp>
      <p:sp>
        <p:nvSpPr>
          <p:cNvPr id="4" name="Shape 2"/>
          <p:cNvSpPr/>
          <p:nvPr/>
        </p:nvSpPr>
        <p:spPr>
          <a:xfrm>
            <a:off x="274320" y="822960"/>
            <a:ext cx="4206240" cy="1783080"/>
          </a:xfrm>
          <a:prstGeom prst="rect">
            <a:avLst/>
          </a:prstGeom>
          <a:solidFill>
            <a:srgbClr val="22224A"/>
          </a:solidFill>
          <a:ln w="19050">
            <a:solidFill>
              <a:srgbClr val="D4A017"/>
            </a:solidFill>
            <a:prstDash val="solid"/>
          </a:ln>
        </p:spPr>
        <p:txBody>
          <a:bodyPr/>
          <a:lstStyle/>
          <a:p>
            <a:endParaRPr lang="en-US"/>
          </a:p>
        </p:txBody>
      </p:sp>
      <p:sp>
        <p:nvSpPr>
          <p:cNvPr id="5" name="Shape 3"/>
          <p:cNvSpPr/>
          <p:nvPr/>
        </p:nvSpPr>
        <p:spPr>
          <a:xfrm>
            <a:off x="274320" y="822960"/>
            <a:ext cx="109728" cy="1783080"/>
          </a:xfrm>
          <a:prstGeom prst="rect">
            <a:avLst/>
          </a:prstGeom>
          <a:solidFill>
            <a:srgbClr val="D4A017"/>
          </a:solidFill>
          <a:ln w="12700">
            <a:solidFill>
              <a:srgbClr val="D4A017"/>
            </a:solidFill>
            <a:prstDash val="solid"/>
          </a:ln>
        </p:spPr>
        <p:txBody>
          <a:bodyPr/>
          <a:lstStyle/>
          <a:p>
            <a:endParaRPr lang="en-US"/>
          </a:p>
        </p:txBody>
      </p:sp>
      <p:sp>
        <p:nvSpPr>
          <p:cNvPr id="6" name="Text 4"/>
          <p:cNvSpPr/>
          <p:nvPr/>
        </p:nvSpPr>
        <p:spPr>
          <a:xfrm>
            <a:off x="457200" y="914400"/>
            <a:ext cx="3931920" cy="365760"/>
          </a:xfrm>
          <a:prstGeom prst="rect">
            <a:avLst/>
          </a:prstGeom>
          <a:noFill/>
          <a:ln/>
        </p:spPr>
        <p:txBody>
          <a:bodyPr wrap="square" rtlCol="0" anchor="ctr"/>
          <a:lstStyle/>
          <a:p>
            <a:pPr marL="0" indent="0">
              <a:buNone/>
            </a:pPr>
            <a:r>
              <a:rPr lang="en-US" sz="1400" b="1" dirty="0">
                <a:solidFill>
                  <a:srgbClr val="F5C842"/>
                </a:solidFill>
                <a:latin typeface="Calibri" pitchFamily="34" charset="0"/>
                <a:ea typeface="Calibri" pitchFamily="34" charset="-122"/>
                <a:cs typeface="Calibri" pitchFamily="34" charset="-120"/>
              </a:rPr>
              <a:t>Franchise Strategy</a:t>
            </a:r>
            <a:endParaRPr lang="en-US" sz="1400" dirty="0"/>
          </a:p>
        </p:txBody>
      </p:sp>
      <p:sp>
        <p:nvSpPr>
          <p:cNvPr id="7" name="Text 5"/>
          <p:cNvSpPr/>
          <p:nvPr/>
        </p:nvSpPr>
        <p:spPr>
          <a:xfrm>
            <a:off x="457200" y="1280160"/>
            <a:ext cx="3931920" cy="1188720"/>
          </a:xfrm>
          <a:prstGeom prst="rect">
            <a:avLst/>
          </a:prstGeom>
          <a:noFill/>
          <a:ln/>
        </p:spPr>
        <p:txBody>
          <a:bodyPr wrap="square" rtlCol="0" anchor="ctr"/>
          <a:lstStyle/>
          <a:p>
            <a:pPr marL="0" indent="0">
              <a:buNone/>
            </a:pPr>
            <a:r>
              <a:rPr lang="en-US" sz="1100" dirty="0">
                <a:solidFill>
                  <a:srgbClr val="FFFFFF"/>
                </a:solidFill>
                <a:latin typeface="Calibri" pitchFamily="34" charset="0"/>
                <a:ea typeface="Calibri" pitchFamily="34" charset="-122"/>
                <a:cs typeface="Calibri" pitchFamily="34" charset="-120"/>
              </a:rPr>
              <a:t>Punjab Kings, Delhi Capitals, and Royal Challengers spent the most, indicating aggressive team-building strategies across all seasons.</a:t>
            </a:r>
            <a:endParaRPr lang="en-US" sz="1100" dirty="0"/>
          </a:p>
        </p:txBody>
      </p:sp>
      <p:sp>
        <p:nvSpPr>
          <p:cNvPr id="8" name="Shape 6"/>
          <p:cNvSpPr/>
          <p:nvPr/>
        </p:nvSpPr>
        <p:spPr>
          <a:xfrm>
            <a:off x="4709160" y="822960"/>
            <a:ext cx="4206240" cy="1783080"/>
          </a:xfrm>
          <a:prstGeom prst="rect">
            <a:avLst/>
          </a:prstGeom>
          <a:solidFill>
            <a:srgbClr val="22224A"/>
          </a:solidFill>
          <a:ln w="19050">
            <a:solidFill>
              <a:srgbClr val="D4A017"/>
            </a:solidFill>
            <a:prstDash val="solid"/>
          </a:ln>
        </p:spPr>
        <p:txBody>
          <a:bodyPr/>
          <a:lstStyle/>
          <a:p>
            <a:endParaRPr lang="en-US"/>
          </a:p>
        </p:txBody>
      </p:sp>
      <p:sp>
        <p:nvSpPr>
          <p:cNvPr id="9" name="Shape 7"/>
          <p:cNvSpPr/>
          <p:nvPr/>
        </p:nvSpPr>
        <p:spPr>
          <a:xfrm>
            <a:off x="4709160" y="822960"/>
            <a:ext cx="109728" cy="1783080"/>
          </a:xfrm>
          <a:prstGeom prst="rect">
            <a:avLst/>
          </a:prstGeom>
          <a:solidFill>
            <a:srgbClr val="D4A017"/>
          </a:solidFill>
          <a:ln w="12700">
            <a:solidFill>
              <a:srgbClr val="D4A017"/>
            </a:solidFill>
            <a:prstDash val="solid"/>
          </a:ln>
        </p:spPr>
        <p:txBody>
          <a:bodyPr/>
          <a:lstStyle/>
          <a:p>
            <a:endParaRPr lang="en-US"/>
          </a:p>
        </p:txBody>
      </p:sp>
      <p:sp>
        <p:nvSpPr>
          <p:cNvPr id="10" name="Text 8"/>
          <p:cNvSpPr/>
          <p:nvPr/>
        </p:nvSpPr>
        <p:spPr>
          <a:xfrm>
            <a:off x="4892040" y="914400"/>
            <a:ext cx="3931920" cy="365760"/>
          </a:xfrm>
          <a:prstGeom prst="rect">
            <a:avLst/>
          </a:prstGeom>
          <a:noFill/>
          <a:ln/>
        </p:spPr>
        <p:txBody>
          <a:bodyPr wrap="square" rtlCol="0" anchor="ctr"/>
          <a:lstStyle/>
          <a:p>
            <a:pPr marL="0" indent="0">
              <a:buNone/>
            </a:pPr>
            <a:r>
              <a:rPr lang="en-US" sz="1400" b="1" dirty="0">
                <a:solidFill>
                  <a:srgbClr val="F5C842"/>
                </a:solidFill>
                <a:latin typeface="Calibri" pitchFamily="34" charset="0"/>
                <a:ea typeface="Calibri" pitchFamily="34" charset="-122"/>
                <a:cs typeface="Calibri" pitchFamily="34" charset="-120"/>
              </a:rPr>
              <a:t>Role Valuation</a:t>
            </a:r>
            <a:endParaRPr lang="en-US" sz="1400" dirty="0"/>
          </a:p>
        </p:txBody>
      </p:sp>
      <p:sp>
        <p:nvSpPr>
          <p:cNvPr id="11" name="Text 9"/>
          <p:cNvSpPr/>
          <p:nvPr/>
        </p:nvSpPr>
        <p:spPr>
          <a:xfrm>
            <a:off x="4892040" y="1280160"/>
            <a:ext cx="3931920" cy="1188720"/>
          </a:xfrm>
          <a:prstGeom prst="rect">
            <a:avLst/>
          </a:prstGeom>
          <a:noFill/>
          <a:ln/>
        </p:spPr>
        <p:txBody>
          <a:bodyPr wrap="square" rtlCol="0" anchor="ctr"/>
          <a:lstStyle/>
          <a:p>
            <a:pPr marL="0" indent="0">
              <a:buNone/>
            </a:pPr>
            <a:r>
              <a:rPr lang="en-US" sz="1100" dirty="0">
                <a:solidFill>
                  <a:srgbClr val="FFFFFF"/>
                </a:solidFill>
                <a:latin typeface="Calibri" pitchFamily="34" charset="0"/>
                <a:ea typeface="Calibri" pitchFamily="34" charset="-122"/>
                <a:cs typeface="Calibri" pitchFamily="34" charset="-120"/>
              </a:rPr>
              <a:t>All-Rounders command the highest average bids (₹2.25 Cr) and receive the largest share of team budgets (38.68%), reflecting their versatility.</a:t>
            </a:r>
            <a:endParaRPr lang="en-US" sz="1100" dirty="0"/>
          </a:p>
        </p:txBody>
      </p:sp>
      <p:sp>
        <p:nvSpPr>
          <p:cNvPr id="12" name="Shape 10"/>
          <p:cNvSpPr/>
          <p:nvPr/>
        </p:nvSpPr>
        <p:spPr>
          <a:xfrm>
            <a:off x="274320" y="2743200"/>
            <a:ext cx="4206240" cy="1783080"/>
          </a:xfrm>
          <a:prstGeom prst="rect">
            <a:avLst/>
          </a:prstGeom>
          <a:solidFill>
            <a:srgbClr val="22224A"/>
          </a:solidFill>
          <a:ln w="19050">
            <a:solidFill>
              <a:srgbClr val="D4A017"/>
            </a:solidFill>
            <a:prstDash val="solid"/>
          </a:ln>
        </p:spPr>
        <p:txBody>
          <a:bodyPr/>
          <a:lstStyle/>
          <a:p>
            <a:endParaRPr lang="en-US"/>
          </a:p>
        </p:txBody>
      </p:sp>
      <p:sp>
        <p:nvSpPr>
          <p:cNvPr id="13" name="Shape 11"/>
          <p:cNvSpPr/>
          <p:nvPr/>
        </p:nvSpPr>
        <p:spPr>
          <a:xfrm>
            <a:off x="274320" y="2743200"/>
            <a:ext cx="109728" cy="1783080"/>
          </a:xfrm>
          <a:prstGeom prst="rect">
            <a:avLst/>
          </a:prstGeom>
          <a:solidFill>
            <a:srgbClr val="D4A017"/>
          </a:solidFill>
          <a:ln w="12700">
            <a:solidFill>
              <a:srgbClr val="D4A017"/>
            </a:solidFill>
            <a:prstDash val="solid"/>
          </a:ln>
        </p:spPr>
        <p:txBody>
          <a:bodyPr/>
          <a:lstStyle/>
          <a:p>
            <a:endParaRPr lang="en-US"/>
          </a:p>
        </p:txBody>
      </p:sp>
      <p:sp>
        <p:nvSpPr>
          <p:cNvPr id="14" name="Text 12"/>
          <p:cNvSpPr/>
          <p:nvPr/>
        </p:nvSpPr>
        <p:spPr>
          <a:xfrm>
            <a:off x="457200" y="2834640"/>
            <a:ext cx="3931920" cy="365760"/>
          </a:xfrm>
          <a:prstGeom prst="rect">
            <a:avLst/>
          </a:prstGeom>
          <a:noFill/>
          <a:ln/>
        </p:spPr>
        <p:txBody>
          <a:bodyPr wrap="square" rtlCol="0" anchor="ctr"/>
          <a:lstStyle/>
          <a:p>
            <a:pPr marL="0" indent="0">
              <a:buNone/>
            </a:pPr>
            <a:r>
              <a:rPr lang="en-US" sz="1400" b="1" dirty="0">
                <a:solidFill>
                  <a:srgbClr val="F5C842"/>
                </a:solidFill>
                <a:latin typeface="Calibri" pitchFamily="34" charset="0"/>
                <a:ea typeface="Calibri" pitchFamily="34" charset="-122"/>
                <a:cs typeface="Calibri" pitchFamily="34" charset="-120"/>
              </a:rPr>
              <a:t>Player Origin</a:t>
            </a:r>
            <a:endParaRPr lang="en-US" sz="1400" dirty="0"/>
          </a:p>
        </p:txBody>
      </p:sp>
      <p:sp>
        <p:nvSpPr>
          <p:cNvPr id="15" name="Text 13"/>
          <p:cNvSpPr/>
          <p:nvPr/>
        </p:nvSpPr>
        <p:spPr>
          <a:xfrm>
            <a:off x="457200" y="3200400"/>
            <a:ext cx="3931920" cy="1188720"/>
          </a:xfrm>
          <a:prstGeom prst="rect">
            <a:avLst/>
          </a:prstGeom>
          <a:noFill/>
          <a:ln/>
        </p:spPr>
        <p:txBody>
          <a:bodyPr wrap="square" rtlCol="0" anchor="ctr"/>
          <a:lstStyle/>
          <a:p>
            <a:pPr marL="0" indent="0">
              <a:buNone/>
            </a:pPr>
            <a:r>
              <a:rPr lang="en-US" sz="1100" dirty="0">
                <a:solidFill>
                  <a:srgbClr val="FFFFFF"/>
                </a:solidFill>
                <a:latin typeface="Calibri" pitchFamily="34" charset="0"/>
                <a:ea typeface="Calibri" pitchFamily="34" charset="-122"/>
                <a:cs typeface="Calibri" pitchFamily="34" charset="-120"/>
              </a:rPr>
              <a:t>Indian players dominate in count (63.79%) but overseas players like Christopher Morris, Pat Cummins, and Ben Stokes command record prices.</a:t>
            </a:r>
            <a:endParaRPr lang="en-US" sz="1100" dirty="0"/>
          </a:p>
        </p:txBody>
      </p:sp>
      <p:sp>
        <p:nvSpPr>
          <p:cNvPr id="16" name="Shape 14"/>
          <p:cNvSpPr/>
          <p:nvPr/>
        </p:nvSpPr>
        <p:spPr>
          <a:xfrm>
            <a:off x="4709160" y="2743200"/>
            <a:ext cx="4206240" cy="1783080"/>
          </a:xfrm>
          <a:prstGeom prst="rect">
            <a:avLst/>
          </a:prstGeom>
          <a:solidFill>
            <a:srgbClr val="22224A"/>
          </a:solidFill>
          <a:ln w="19050">
            <a:solidFill>
              <a:srgbClr val="D4A017"/>
            </a:solidFill>
            <a:prstDash val="solid"/>
          </a:ln>
        </p:spPr>
        <p:txBody>
          <a:bodyPr/>
          <a:lstStyle/>
          <a:p>
            <a:endParaRPr lang="en-US"/>
          </a:p>
        </p:txBody>
      </p:sp>
      <p:sp>
        <p:nvSpPr>
          <p:cNvPr id="17" name="Shape 15"/>
          <p:cNvSpPr/>
          <p:nvPr/>
        </p:nvSpPr>
        <p:spPr>
          <a:xfrm>
            <a:off x="4709160" y="2743200"/>
            <a:ext cx="109728" cy="1783080"/>
          </a:xfrm>
          <a:prstGeom prst="rect">
            <a:avLst/>
          </a:prstGeom>
          <a:solidFill>
            <a:srgbClr val="D4A017"/>
          </a:solidFill>
          <a:ln w="12700">
            <a:solidFill>
              <a:srgbClr val="D4A017"/>
            </a:solidFill>
            <a:prstDash val="solid"/>
          </a:ln>
        </p:spPr>
        <p:txBody>
          <a:bodyPr/>
          <a:lstStyle/>
          <a:p>
            <a:endParaRPr lang="en-US"/>
          </a:p>
        </p:txBody>
      </p:sp>
      <p:sp>
        <p:nvSpPr>
          <p:cNvPr id="18" name="Text 16"/>
          <p:cNvSpPr/>
          <p:nvPr/>
        </p:nvSpPr>
        <p:spPr>
          <a:xfrm>
            <a:off x="4892040" y="2834640"/>
            <a:ext cx="3931920" cy="365760"/>
          </a:xfrm>
          <a:prstGeom prst="rect">
            <a:avLst/>
          </a:prstGeom>
          <a:noFill/>
          <a:ln/>
        </p:spPr>
        <p:txBody>
          <a:bodyPr wrap="square" rtlCol="0" anchor="ctr"/>
          <a:lstStyle/>
          <a:p>
            <a:pPr marL="0" indent="0">
              <a:buNone/>
            </a:pPr>
            <a:r>
              <a:rPr lang="en-US" sz="1400" b="1" dirty="0">
                <a:solidFill>
                  <a:srgbClr val="F5C842"/>
                </a:solidFill>
                <a:latin typeface="Calibri" pitchFamily="34" charset="0"/>
                <a:ea typeface="Calibri" pitchFamily="34" charset="-122"/>
                <a:cs typeface="Calibri" pitchFamily="34" charset="-120"/>
              </a:rPr>
              <a:t>Price Trends</a:t>
            </a:r>
            <a:endParaRPr lang="en-US" sz="1400" dirty="0"/>
          </a:p>
        </p:txBody>
      </p:sp>
      <p:sp>
        <p:nvSpPr>
          <p:cNvPr id="19" name="Text 17"/>
          <p:cNvSpPr/>
          <p:nvPr/>
        </p:nvSpPr>
        <p:spPr>
          <a:xfrm>
            <a:off x="4892040" y="3200400"/>
            <a:ext cx="3931920" cy="1188720"/>
          </a:xfrm>
          <a:prstGeom prst="rect">
            <a:avLst/>
          </a:prstGeom>
          <a:noFill/>
          <a:ln/>
        </p:spPr>
        <p:txBody>
          <a:bodyPr wrap="square" rtlCol="0" anchor="ctr"/>
          <a:lstStyle/>
          <a:p>
            <a:pPr marL="0" indent="0">
              <a:buNone/>
            </a:pPr>
            <a:r>
              <a:rPr lang="en-US" sz="1100" dirty="0">
                <a:solidFill>
                  <a:srgbClr val="FFFFFF"/>
                </a:solidFill>
                <a:latin typeface="Calibri" pitchFamily="34" charset="0"/>
                <a:ea typeface="Calibri" pitchFamily="34" charset="-122"/>
                <a:cs typeface="Calibri" pitchFamily="34" charset="-120"/>
              </a:rPr>
              <a:t>Most players fall in the ₹2–5 Cr bracket, but only 22 elite players exceeded ₹15 Cr. The 2022 season saw a record high spend of ₹562 Cr.</a:t>
            </a:r>
            <a:endParaRPr lang="en-US" sz="1100" dirty="0"/>
          </a:p>
        </p:txBody>
      </p:sp>
      <p:sp>
        <p:nvSpPr>
          <p:cNvPr id="20" name="Text 18"/>
          <p:cNvSpPr/>
          <p:nvPr/>
        </p:nvSpPr>
        <p:spPr>
          <a:xfrm>
            <a:off x="274320" y="4754880"/>
            <a:ext cx="8595360" cy="274320"/>
          </a:xfrm>
          <a:prstGeom prst="rect">
            <a:avLst/>
          </a:prstGeom>
          <a:noFill/>
          <a:ln/>
        </p:spPr>
        <p:txBody>
          <a:bodyPr wrap="square" rtlCol="0" anchor="ctr"/>
          <a:lstStyle/>
          <a:p>
            <a:pPr marL="0" indent="0" algn="ctr">
              <a:buNone/>
            </a:pPr>
            <a:r>
              <a:rPr lang="en-US" sz="1000" dirty="0">
                <a:solidFill>
                  <a:srgbClr val="B0B0B0"/>
                </a:solidFill>
                <a:latin typeface="Calibri" pitchFamily="34" charset="0"/>
                <a:ea typeface="Calibri" pitchFamily="34" charset="-122"/>
                <a:cs typeface="Calibri" pitchFamily="34" charset="-120"/>
              </a:rPr>
              <a:t>🏆  Data Source: IPL Auction Records 2013–2022  |  Tool: Microsoft Power BI</a:t>
            </a:r>
            <a:endParaRPr lang="en-US" sz="1000" dirty="0"/>
          </a:p>
        </p:txBody>
      </p:sp>
      <p:sp>
        <p:nvSpPr>
          <p:cNvPr id="21" name="Shape 19"/>
          <p:cNvSpPr/>
          <p:nvPr/>
        </p:nvSpPr>
        <p:spPr>
          <a:xfrm>
            <a:off x="0" y="5033772"/>
            <a:ext cx="9144000" cy="109728"/>
          </a:xfrm>
          <a:prstGeom prst="rect">
            <a:avLst/>
          </a:prstGeom>
          <a:solidFill>
            <a:srgbClr val="D4A017"/>
          </a:solidFill>
          <a:ln w="12700">
            <a:solidFill>
              <a:srgbClr val="D4A017"/>
            </a:solidFill>
            <a:prstDash val="solid"/>
          </a:ln>
        </p:spPr>
        <p:txBody>
          <a:bodyPr/>
          <a:lstStyle/>
          <a:p>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Report Summary">
    <p:bg>
      <p:bgPr>
        <a:solidFill>
          <a:srgbClr val="1A1A2E"/>
        </a:solidFill>
        <a:effectLst/>
      </p:bgPr>
    </p:bg>
    <p:spTree>
      <p:nvGrpSpPr>
        <p:cNvPr id="1" name=""/>
        <p:cNvGrpSpPr/>
        <p:nvPr/>
      </p:nvGrpSpPr>
      <p:grpSpPr>
        <a:xfrm>
          <a:off x="0" y="0"/>
          <a:ext cx="0" cy="0"/>
          <a:chOff x="0" y="0"/>
          <a:chExt cx="0" cy="0"/>
        </a:xfrm>
      </p:grpSpPr>
      <p:sp>
        <p:nvSpPr>
          <p:cNvPr id="2" name="TopBar"/>
          <p:cNvSpPr/>
          <p:nvPr/>
        </p:nvSpPr>
        <p:spPr>
          <a:xfrm>
            <a:off x="0" y="0"/>
            <a:ext cx="9144000" cy="109728"/>
          </a:xfrm>
          <a:prstGeom prst="rect">
            <a:avLst/>
          </a:prstGeom>
          <a:solidFill>
            <a:srgbClr val="D4A017"/>
          </a:solidFill>
          <a:ln w="12700">
            <a:solidFill>
              <a:srgbClr val="D4A017"/>
            </a:solidFill>
            <a:prstDash val="solid"/>
          </a:ln>
        </p:spPr>
        <p:txBody>
          <a:bodyPr/>
          <a:lstStyle/>
          <a:p>
            <a:endParaRPr lang="en-US"/>
          </a:p>
        </p:txBody>
      </p:sp>
      <p:sp>
        <p:nvSpPr>
          <p:cNvPr id="3" name="Title"/>
          <p:cNvSpPr/>
          <p:nvPr/>
        </p:nvSpPr>
        <p:spPr>
          <a:xfrm>
            <a:off x="457200" y="155000"/>
            <a:ext cx="8229600" cy="450000"/>
          </a:xfrm>
          <a:prstGeom prst="rect">
            <a:avLst/>
          </a:prstGeom>
          <a:noFill/>
          <a:ln/>
        </p:spPr>
        <p:txBody>
          <a:bodyPr wrap="square" rtlCol="0" anchor="ctr"/>
          <a:lstStyle/>
          <a:p>
            <a:pPr marL="0" indent="0" algn="ctr">
              <a:buNone/>
            </a:pPr>
            <a:r>
              <a:rPr lang="en-US" sz="2600" b="1" dirty="0">
                <a:solidFill>
                  <a:srgbClr val="F5C842"/>
                </a:solidFill>
                <a:latin typeface="Georgia" pitchFamily="34" charset="0"/>
              </a:rPr>
              <a:t>REPORT SUMMARY</a:t>
            </a:r>
          </a:p>
        </p:txBody>
      </p:sp>
      <p:sp>
        <p:nvSpPr>
          <p:cNvPr id="4" name="Subtitle"/>
          <p:cNvSpPr/>
          <p:nvPr/>
        </p:nvSpPr>
        <p:spPr>
          <a:xfrm>
            <a:off x="457200" y="600000"/>
            <a:ext cx="8229600" cy="220000"/>
          </a:xfrm>
          <a:prstGeom prst="rect">
            <a:avLst/>
          </a:prstGeom>
          <a:noFill/>
          <a:ln/>
        </p:spPr>
        <p:txBody>
          <a:bodyPr wrap="square" rtlCol="0" anchor="ctr"/>
          <a:lstStyle/>
          <a:p>
            <a:pPr marL="0" indent="0" algn="ctr">
              <a:buNone/>
            </a:pPr>
            <a:r>
              <a:rPr lang="en-US" sz="1100" dirty="0">
                <a:solidFill>
                  <a:srgbClr val="B0B0B0"/>
                </a:solidFill>
                <a:latin typeface="Calibri" pitchFamily="34" charset="0"/>
              </a:rPr>
              <a:t>IPL Auction Analytics 2013-2022  |  Key Findings &amp; Insights</a:t>
            </a:r>
          </a:p>
        </p:txBody>
      </p:sp>
      <p:sp>
        <p:nvSpPr>
          <p:cNvPr id="5" name="KPI1Bg"/>
          <p:cNvSpPr/>
          <p:nvPr/>
        </p:nvSpPr>
        <p:spPr>
          <a:xfrm>
            <a:off x="274320" y="880000"/>
            <a:ext cx="1920000" cy="600000"/>
          </a:xfrm>
          <a:prstGeom prst="rect">
            <a:avLst/>
          </a:prstGeom>
          <a:solidFill>
            <a:srgbClr val="22224A"/>
          </a:solidFill>
          <a:ln w="19050">
            <a:solidFill>
              <a:srgbClr val="D4A017"/>
            </a:solidFill>
            <a:prstDash val="solid"/>
          </a:ln>
        </p:spPr>
        <p:txBody>
          <a:bodyPr/>
          <a:lstStyle/>
          <a:p>
            <a:endParaRPr lang="en-US"/>
          </a:p>
        </p:txBody>
      </p:sp>
      <p:sp>
        <p:nvSpPr>
          <p:cNvPr id="6" name="KPI1Text"/>
          <p:cNvSpPr/>
          <p:nvPr/>
        </p:nvSpPr>
        <p:spPr>
          <a:xfrm>
            <a:off x="274320" y="880000"/>
            <a:ext cx="1920000" cy="600000"/>
          </a:xfrm>
          <a:prstGeom prst="rect">
            <a:avLst/>
          </a:prstGeom>
          <a:noFill/>
          <a:ln/>
        </p:spPr>
        <p:txBody>
          <a:bodyPr wrap="square" rtlCol="0" anchor="ctr"/>
          <a:lstStyle/>
          <a:p>
            <a:pPr marL="0" indent="0" algn="ctr">
              <a:buNone/>
            </a:pPr>
            <a:r>
              <a:rPr lang="en-US" sz="2000" b="1" dirty="0">
                <a:solidFill>
                  <a:srgbClr val="F5C842"/>
                </a:solidFill>
                <a:latin typeface="Georgia" pitchFamily="34" charset="0"/>
              </a:rPr>
              <a:t>₹2.04K Cr</a:t>
            </a:r>
          </a:p>
          <a:p>
            <a:pPr marL="0" indent="0" algn="ctr">
              <a:buNone/>
            </a:pPr>
            <a:r>
              <a:rPr lang="en-US" sz="1000" dirty="0">
                <a:solidFill>
                  <a:srgbClr val="B0B0B0"/>
                </a:solidFill>
                <a:latin typeface="Calibri" pitchFamily="34" charset="0"/>
              </a:rPr>
              <a:t>Total Spend</a:t>
            </a:r>
          </a:p>
        </p:txBody>
      </p:sp>
      <p:sp>
        <p:nvSpPr>
          <p:cNvPr id="7" name="KPI2Bg"/>
          <p:cNvSpPr/>
          <p:nvPr/>
        </p:nvSpPr>
        <p:spPr>
          <a:xfrm>
            <a:off x="2378320" y="880000"/>
            <a:ext cx="1920000" cy="600000"/>
          </a:xfrm>
          <a:prstGeom prst="rect">
            <a:avLst/>
          </a:prstGeom>
          <a:solidFill>
            <a:srgbClr val="22224A"/>
          </a:solidFill>
          <a:ln w="19050">
            <a:solidFill>
              <a:srgbClr val="D4A017"/>
            </a:solidFill>
            <a:prstDash val="solid"/>
          </a:ln>
        </p:spPr>
        <p:txBody>
          <a:bodyPr/>
          <a:lstStyle/>
          <a:p>
            <a:endParaRPr lang="en-US"/>
          </a:p>
        </p:txBody>
      </p:sp>
      <p:sp>
        <p:nvSpPr>
          <p:cNvPr id="8" name="KPI2Text"/>
          <p:cNvSpPr/>
          <p:nvPr/>
        </p:nvSpPr>
        <p:spPr>
          <a:xfrm>
            <a:off x="2378320" y="880000"/>
            <a:ext cx="1920000" cy="600000"/>
          </a:xfrm>
          <a:prstGeom prst="rect">
            <a:avLst/>
          </a:prstGeom>
          <a:noFill/>
          <a:ln/>
        </p:spPr>
        <p:txBody>
          <a:bodyPr wrap="square" rtlCol="0" anchor="ctr"/>
          <a:lstStyle/>
          <a:p>
            <a:pPr marL="0" indent="0" algn="ctr">
              <a:buNone/>
            </a:pPr>
            <a:r>
              <a:rPr lang="en-US" sz="2000" b="1" dirty="0">
                <a:solidFill>
                  <a:srgbClr val="F5C842"/>
                </a:solidFill>
                <a:latin typeface="Georgia" pitchFamily="34" charset="0"/>
              </a:rPr>
              <a:t>543 Players</a:t>
            </a:r>
          </a:p>
          <a:p>
            <a:pPr marL="0" indent="0" algn="ctr">
              <a:buNone/>
            </a:pPr>
            <a:r>
              <a:rPr lang="en-US" sz="1000" dirty="0">
                <a:solidFill>
                  <a:srgbClr val="B0B0B0"/>
                </a:solidFill>
                <a:latin typeface="Calibri" pitchFamily="34" charset="0"/>
              </a:rPr>
              <a:t>Auctioned 2013-2022</a:t>
            </a:r>
          </a:p>
        </p:txBody>
      </p:sp>
      <p:sp>
        <p:nvSpPr>
          <p:cNvPr id="9" name="KPI3Bg"/>
          <p:cNvSpPr/>
          <p:nvPr/>
        </p:nvSpPr>
        <p:spPr>
          <a:xfrm>
            <a:off x="4482320" y="880000"/>
            <a:ext cx="1920000" cy="600000"/>
          </a:xfrm>
          <a:prstGeom prst="rect">
            <a:avLst/>
          </a:prstGeom>
          <a:solidFill>
            <a:srgbClr val="22224A"/>
          </a:solidFill>
          <a:ln w="19050">
            <a:solidFill>
              <a:srgbClr val="D4A017"/>
            </a:solidFill>
            <a:prstDash val="solid"/>
          </a:ln>
        </p:spPr>
        <p:txBody>
          <a:bodyPr/>
          <a:lstStyle/>
          <a:p>
            <a:endParaRPr lang="en-US"/>
          </a:p>
        </p:txBody>
      </p:sp>
      <p:sp>
        <p:nvSpPr>
          <p:cNvPr id="10" name="KPI3Text"/>
          <p:cNvSpPr/>
          <p:nvPr/>
        </p:nvSpPr>
        <p:spPr>
          <a:xfrm>
            <a:off x="4482320" y="880000"/>
            <a:ext cx="1920000" cy="600000"/>
          </a:xfrm>
          <a:prstGeom prst="rect">
            <a:avLst/>
          </a:prstGeom>
          <a:noFill/>
          <a:ln/>
        </p:spPr>
        <p:txBody>
          <a:bodyPr wrap="square" rtlCol="0" anchor="ctr"/>
          <a:lstStyle/>
          <a:p>
            <a:pPr marL="0" indent="0" algn="ctr">
              <a:buNone/>
            </a:pPr>
            <a:r>
              <a:rPr lang="en-US" sz="2000" b="1" dirty="0">
                <a:solidFill>
                  <a:srgbClr val="F5C842"/>
                </a:solidFill>
                <a:latin typeface="Georgia" pitchFamily="34" charset="0"/>
              </a:rPr>
              <a:t>₹2.11 Cr</a:t>
            </a:r>
          </a:p>
          <a:p>
            <a:pPr marL="0" indent="0" algn="ctr">
              <a:buNone/>
            </a:pPr>
            <a:r>
              <a:rPr lang="en-US" sz="1000" dirty="0">
                <a:solidFill>
                  <a:srgbClr val="B0B0B0"/>
                </a:solidFill>
                <a:latin typeface="Calibri" pitchFamily="34" charset="0"/>
              </a:rPr>
              <a:t>Avg Bid Price</a:t>
            </a:r>
          </a:p>
        </p:txBody>
      </p:sp>
      <p:sp>
        <p:nvSpPr>
          <p:cNvPr id="11" name="KPI4Bg"/>
          <p:cNvSpPr/>
          <p:nvPr/>
        </p:nvSpPr>
        <p:spPr>
          <a:xfrm>
            <a:off x="6586320" y="880000"/>
            <a:ext cx="2283360" cy="600000"/>
          </a:xfrm>
          <a:prstGeom prst="rect">
            <a:avLst/>
          </a:prstGeom>
          <a:solidFill>
            <a:srgbClr val="22224A"/>
          </a:solidFill>
          <a:ln w="19050">
            <a:solidFill>
              <a:srgbClr val="D4A017"/>
            </a:solidFill>
            <a:prstDash val="solid"/>
          </a:ln>
        </p:spPr>
        <p:txBody>
          <a:bodyPr/>
          <a:lstStyle/>
          <a:p>
            <a:endParaRPr lang="en-US"/>
          </a:p>
        </p:txBody>
      </p:sp>
      <p:sp>
        <p:nvSpPr>
          <p:cNvPr id="12" name="KPI4Text"/>
          <p:cNvSpPr/>
          <p:nvPr/>
        </p:nvSpPr>
        <p:spPr>
          <a:xfrm>
            <a:off x="6586320" y="880000"/>
            <a:ext cx="2283360" cy="600000"/>
          </a:xfrm>
          <a:prstGeom prst="rect">
            <a:avLst/>
          </a:prstGeom>
          <a:noFill/>
          <a:ln/>
        </p:spPr>
        <p:txBody>
          <a:bodyPr wrap="square" rtlCol="0" anchor="ctr"/>
          <a:lstStyle/>
          <a:p>
            <a:pPr marL="0" indent="0" algn="ctr">
              <a:buNone/>
            </a:pPr>
            <a:r>
              <a:rPr lang="en-US" sz="2000" b="1" dirty="0">
                <a:solidFill>
                  <a:srgbClr val="F5C842"/>
                </a:solidFill>
                <a:latin typeface="Georgia" pitchFamily="34" charset="0"/>
              </a:rPr>
              <a:t>₹16.25 Cr</a:t>
            </a:r>
          </a:p>
          <a:p>
            <a:pPr marL="0" indent="0" algn="ctr">
              <a:buNone/>
            </a:pPr>
            <a:r>
              <a:rPr lang="en-US" sz="1000" dirty="0">
                <a:solidFill>
                  <a:srgbClr val="B0B0B0"/>
                </a:solidFill>
                <a:latin typeface="Calibri" pitchFamily="34" charset="0"/>
              </a:rPr>
              <a:t>Highest Single Bid</a:t>
            </a:r>
          </a:p>
        </p:txBody>
      </p:sp>
      <p:sp>
        <p:nvSpPr>
          <p:cNvPr id="13" name="LeftBg"/>
          <p:cNvSpPr/>
          <p:nvPr/>
        </p:nvSpPr>
        <p:spPr>
          <a:xfrm>
            <a:off x="274320" y="1600000"/>
            <a:ext cx="4120000" cy="3020000"/>
          </a:xfrm>
          <a:prstGeom prst="rect">
            <a:avLst/>
          </a:prstGeom>
          <a:solidFill>
            <a:srgbClr val="22224A"/>
          </a:solidFill>
          <a:ln w="19050">
            <a:solidFill>
              <a:srgbClr val="D4A017"/>
            </a:solidFill>
            <a:prstDash val="solid"/>
          </a:ln>
        </p:spPr>
        <p:txBody>
          <a:bodyPr/>
          <a:lstStyle/>
          <a:p>
            <a:endParaRPr lang="en-US"/>
          </a:p>
        </p:txBody>
      </p:sp>
      <p:sp>
        <p:nvSpPr>
          <p:cNvPr id="14" name="LeftAccent"/>
          <p:cNvSpPr/>
          <p:nvPr/>
        </p:nvSpPr>
        <p:spPr>
          <a:xfrm>
            <a:off x="274320" y="1600000"/>
            <a:ext cx="109728" cy="3020000"/>
          </a:xfrm>
          <a:prstGeom prst="rect">
            <a:avLst/>
          </a:prstGeom>
          <a:solidFill>
            <a:srgbClr val="D4A017"/>
          </a:solidFill>
          <a:ln w="12700">
            <a:solidFill>
              <a:srgbClr val="D4A017"/>
            </a:solidFill>
            <a:prstDash val="solid"/>
          </a:ln>
        </p:spPr>
        <p:txBody>
          <a:bodyPr/>
          <a:lstStyle/>
          <a:p>
            <a:endParaRPr lang="en-US"/>
          </a:p>
        </p:txBody>
      </p:sp>
      <p:sp>
        <p:nvSpPr>
          <p:cNvPr id="15" name="LeftText"/>
          <p:cNvSpPr/>
          <p:nvPr/>
        </p:nvSpPr>
        <p:spPr>
          <a:xfrm>
            <a:off x="457200" y="1640000"/>
            <a:ext cx="3880000" cy="2940000"/>
          </a:xfrm>
          <a:prstGeom prst="rect">
            <a:avLst/>
          </a:prstGeom>
          <a:noFill/>
          <a:ln/>
        </p:spPr>
        <p:txBody>
          <a:bodyPr wrap="square" rtlCol="0" anchor="t"/>
          <a:lstStyle/>
          <a:p>
            <a:pPr marL="0" indent="0">
              <a:buNone/>
            </a:pPr>
            <a:r>
              <a:rPr lang="en-US" sz="1300" b="1" dirty="0">
                <a:solidFill>
                  <a:srgbClr val="F5C842"/>
                </a:solidFill>
                <a:latin typeface="Calibri" pitchFamily="34" charset="0"/>
              </a:rPr>
              <a:t>Franchise Spending</a:t>
            </a:r>
          </a:p>
          <a:p>
            <a:pPr marL="0" indent="0">
              <a:lnSpc>
                <a:spcPts val="1500"/>
              </a:lnSpc>
              <a:buNone/>
            </a:pPr>
            <a:r>
              <a:rPr lang="en-US" sz="1000" dirty="0">
                <a:solidFill>
                  <a:srgbClr val="FFFFFF"/>
                </a:solidFill>
                <a:latin typeface="Calibri" pitchFamily="34" charset="0"/>
              </a:rPr>
              <a:t>Punjab Kings led with ₹3.0Bn total spend. Delhi Capitals (₹2.9Bn) and Royal Challengers (₹2.7Bn) followed, reflecting aggressive multi-season strategies. Chennai SK and Mumbai Indians spent more conservatively.</a:t>
            </a:r>
          </a:p>
          <a:p>
            <a:pPr marL="0" indent="0">
              <a:buNone/>
            </a:pPr>
            <a:r>
              <a:rPr lang="en-US" sz="900" dirty="0">
                <a:solidFill>
                  <a:srgbClr val="FFFFFF"/>
                </a:solidFill>
              </a:rPr>
              <a:t/>
            </a:r>
          </a:p>
          <a:p>
            <a:pPr marL="0" indent="0">
              <a:buNone/>
            </a:pPr>
            <a:r>
              <a:rPr lang="en-US" sz="1300" b="1" dirty="0">
                <a:solidFill>
                  <a:srgbClr val="F5C842"/>
                </a:solidFill>
                <a:latin typeface="Calibri" pitchFamily="34" charset="0"/>
              </a:rPr>
              <a:t>Role Valuation</a:t>
            </a:r>
          </a:p>
          <a:p>
            <a:pPr marL="0" indent="0">
              <a:lnSpc>
                <a:spcPts val="1500"/>
              </a:lnSpc>
              <a:buNone/>
            </a:pPr>
            <a:r>
              <a:rPr lang="en-US" sz="1000" dirty="0">
                <a:solidFill>
                  <a:srgbClr val="FFFFFF"/>
                </a:solidFill>
                <a:latin typeface="Calibri" pitchFamily="34" charset="0"/>
              </a:rPr>
              <a:t>All-Rounders commanded the highest average bids (₹2.25 Cr) and 38.68% of franchise budgets due to their batting and bowling versatility. Bowlers followed at 33.77%, Batsmen at 18.42%, and Wicket Keepers at 9.12%.</a:t>
            </a:r>
          </a:p>
          <a:p>
            <a:pPr marL="0" indent="0">
              <a:buNone/>
            </a:pPr>
            <a:r>
              <a:rPr lang="en-US" sz="900" dirty="0">
                <a:solidFill>
                  <a:srgbClr val="FFFFFF"/>
                </a:solidFill>
              </a:rPr>
              <a:t/>
            </a:r>
          </a:p>
          <a:p>
            <a:pPr marL="0" indent="0">
              <a:buNone/>
            </a:pPr>
            <a:r>
              <a:rPr lang="en-US" sz="1300" b="1" dirty="0">
                <a:solidFill>
                  <a:srgbClr val="F5C842"/>
                </a:solidFill>
                <a:latin typeface="Calibri" pitchFamily="34" charset="0"/>
              </a:rPr>
              <a:t>Scope &amp; Methodology</a:t>
            </a:r>
          </a:p>
          <a:p>
            <a:pPr marL="0" indent="0">
              <a:lnSpc>
                <a:spcPts val="1500"/>
              </a:lnSpc>
              <a:buNone/>
            </a:pPr>
            <a:r>
              <a:rPr lang="en-US" sz="1000" dirty="0">
                <a:solidFill>
                  <a:srgbClr val="FFFFFF"/>
                </a:solidFill>
                <a:latin typeface="Calibri" pitchFamily="34" charset="0"/>
              </a:rPr>
              <a:t>Covers 10 seasons (2013-2022), 13 franchises, and 543 players. Visualized using interactive Power BI dashboards spanning spending trends, player analytics, and price bracket analysis.</a:t>
            </a:r>
          </a:p>
        </p:txBody>
      </p:sp>
      <p:sp>
        <p:nvSpPr>
          <p:cNvPr id="16" name="RightBg"/>
          <p:cNvSpPr/>
          <p:nvPr/>
        </p:nvSpPr>
        <p:spPr>
          <a:xfrm>
            <a:off x="4663680" y="1600000"/>
            <a:ext cx="4206240" cy="3020000"/>
          </a:xfrm>
          <a:prstGeom prst="rect">
            <a:avLst/>
          </a:prstGeom>
          <a:solidFill>
            <a:srgbClr val="22224A"/>
          </a:solidFill>
          <a:ln w="19050">
            <a:solidFill>
              <a:srgbClr val="D4A017"/>
            </a:solidFill>
            <a:prstDash val="solid"/>
          </a:ln>
        </p:spPr>
        <p:txBody>
          <a:bodyPr/>
          <a:lstStyle/>
          <a:p>
            <a:endParaRPr lang="en-US"/>
          </a:p>
        </p:txBody>
      </p:sp>
      <p:sp>
        <p:nvSpPr>
          <p:cNvPr id="17" name="RightAccent"/>
          <p:cNvSpPr/>
          <p:nvPr/>
        </p:nvSpPr>
        <p:spPr>
          <a:xfrm>
            <a:off x="4663680" y="1600000"/>
            <a:ext cx="109728" cy="3020000"/>
          </a:xfrm>
          <a:prstGeom prst="rect">
            <a:avLst/>
          </a:prstGeom>
          <a:solidFill>
            <a:srgbClr val="D4A017"/>
          </a:solidFill>
          <a:ln w="12700">
            <a:solidFill>
              <a:srgbClr val="D4A017"/>
            </a:solidFill>
            <a:prstDash val="solid"/>
          </a:ln>
        </p:spPr>
        <p:txBody>
          <a:bodyPr/>
          <a:lstStyle/>
          <a:p>
            <a:endParaRPr lang="en-US"/>
          </a:p>
        </p:txBody>
      </p:sp>
      <p:sp>
        <p:nvSpPr>
          <p:cNvPr id="18" name="RightText"/>
          <p:cNvSpPr/>
          <p:nvPr/>
        </p:nvSpPr>
        <p:spPr>
          <a:xfrm>
            <a:off x="4846560" y="1640000"/>
            <a:ext cx="3980000" cy="2940000"/>
          </a:xfrm>
          <a:prstGeom prst="rect">
            <a:avLst/>
          </a:prstGeom>
          <a:noFill/>
          <a:ln/>
        </p:spPr>
        <p:txBody>
          <a:bodyPr wrap="square" rtlCol="0" anchor="t"/>
          <a:lstStyle/>
          <a:p>
            <a:pPr marL="0" indent="0">
              <a:buNone/>
            </a:pPr>
            <a:r>
              <a:rPr lang="en-US" sz="1300" b="1" dirty="0">
                <a:solidFill>
                  <a:srgbClr val="F5C842"/>
                </a:solidFill>
                <a:latin typeface="Calibri" pitchFamily="34" charset="0"/>
              </a:rPr>
              <a:t>Player Origin</a:t>
            </a:r>
          </a:p>
          <a:p>
            <a:pPr marL="0" indent="0">
              <a:lnSpc>
                <a:spcPts val="1500"/>
              </a:lnSpc>
              <a:buNone/>
            </a:pPr>
            <a:r>
              <a:rPr lang="en-US" sz="1000" dirty="0">
                <a:solidFill>
                  <a:srgbClr val="FFFFFF"/>
                </a:solidFill>
                <a:latin typeface="Calibri" pitchFamily="34" charset="0"/>
              </a:rPr>
              <a:t>Indian players dominated the pool at 63.79% (347 players). Overseas players (36.21%, 197 players) consistently fetched premium prices, with Christopher Morris (₹16.25 Cr), Pat Cummins (₹15.50 Cr), and Ben Stokes (₹14.50 Cr) setting records.</a:t>
            </a:r>
          </a:p>
          <a:p>
            <a:pPr marL="0" indent="0">
              <a:buNone/>
            </a:pPr>
            <a:r>
              <a:rPr lang="en-US" sz="900" dirty="0">
                <a:solidFill>
                  <a:srgbClr val="FFFFFF"/>
                </a:solidFill>
              </a:rPr>
              <a:t/>
            </a:r>
          </a:p>
          <a:p>
            <a:pPr marL="0" indent="0">
              <a:buNone/>
            </a:pPr>
            <a:r>
              <a:rPr lang="en-US" sz="1300" b="1" dirty="0">
                <a:solidFill>
                  <a:srgbClr val="F5C842"/>
                </a:solidFill>
                <a:latin typeface="Calibri" pitchFamily="34" charset="0"/>
              </a:rPr>
              <a:t>Price Distribution</a:t>
            </a:r>
          </a:p>
          <a:p>
            <a:pPr marL="0" indent="0">
              <a:lnSpc>
                <a:spcPts val="1500"/>
              </a:lnSpc>
              <a:buNone/>
            </a:pPr>
            <a:r>
              <a:rPr lang="en-US" sz="1000" dirty="0">
                <a:solidFill>
                  <a:srgbClr val="FFFFFF"/>
                </a:solidFill>
                <a:latin typeface="Calibri" pitchFamily="34" charset="0"/>
              </a:rPr>
              <a:t>The ₹2-5 Cr bracket was most common (302 players, 55.6%). Only 22 elite players exceeded ₹15 Cr. The 2022 season set a record spend of ₹562 Cr, indicating rising valuations over time.</a:t>
            </a:r>
          </a:p>
          <a:p>
            <a:pPr marL="0" indent="0">
              <a:buNone/>
            </a:pPr>
            <a:r>
              <a:rPr lang="en-US" sz="900" dirty="0">
                <a:solidFill>
                  <a:srgbClr val="FFFFFF"/>
                </a:solidFill>
              </a:rPr>
              <a:t/>
            </a:r>
          </a:p>
          <a:p>
            <a:pPr marL="0" indent="0">
              <a:buNone/>
            </a:pPr>
            <a:r>
              <a:rPr lang="en-US" sz="1300" b="1" dirty="0">
                <a:solidFill>
                  <a:srgbClr val="F5C842"/>
                </a:solidFill>
                <a:latin typeface="Calibri" pitchFamily="34" charset="0"/>
              </a:rPr>
              <a:t>Key Takeaway</a:t>
            </a:r>
          </a:p>
          <a:p>
            <a:pPr marL="0" indent="0">
              <a:lnSpc>
                <a:spcPts val="1500"/>
              </a:lnSpc>
              <a:buNone/>
            </a:pPr>
            <a:r>
              <a:rPr lang="en-US" sz="1000" dirty="0">
                <a:solidFill>
                  <a:srgbClr val="FFFFFF"/>
                </a:solidFill>
                <a:latin typeface="Calibri" pitchFamily="34" charset="0"/>
              </a:rPr>
              <a:t>Franchise auction success hinges on prioritizing All-Rounders and selectively acquiring high-impact overseas players, while balancing budget constraints across seasons.</a:t>
            </a:r>
          </a:p>
        </p:txBody>
      </p:sp>
      <p:sp>
        <p:nvSpPr>
          <p:cNvPr id="19" name="Footer"/>
          <p:cNvSpPr/>
          <p:nvPr/>
        </p:nvSpPr>
        <p:spPr>
          <a:xfrm>
            <a:off x="274320" y="4754880"/>
            <a:ext cx="8595360" cy="274320"/>
          </a:xfrm>
          <a:prstGeom prst="rect">
            <a:avLst/>
          </a:prstGeom>
          <a:noFill/>
          <a:ln/>
        </p:spPr>
        <p:txBody>
          <a:bodyPr wrap="square" rtlCol="0" anchor="ctr"/>
          <a:lstStyle/>
          <a:p>
            <a:pPr marL="0" indent="0" algn="ctr">
              <a:buNone/>
            </a:pPr>
            <a:r>
              <a:rPr lang="en-US" sz="1000" dirty="0">
                <a:solidFill>
                  <a:srgbClr val="B0B0B0"/>
                </a:solidFill>
                <a:latin typeface="Calibri" pitchFamily="34" charset="0"/>
              </a:rPr>
              <a:t>🏆  Data Source: IPL Auction Records 2013-2022  |  Tool: Microsoft Power BI</a:t>
            </a:r>
          </a:p>
        </p:txBody>
      </p:sp>
      <p:sp>
        <p:nvSpPr>
          <p:cNvPr id="20" name="BottomBar"/>
          <p:cNvSpPr/>
          <p:nvPr/>
        </p:nvSpPr>
        <p:spPr>
          <a:xfrm>
            <a:off x="0" y="5033772"/>
            <a:ext cx="9144000" cy="109728"/>
          </a:xfrm>
          <a:prstGeom prst="rect">
            <a:avLst/>
          </a:prstGeom>
          <a:solidFill>
            <a:srgbClr val="D4A017"/>
          </a:solidFill>
          <a:ln w="12700">
            <a:solidFill>
              <a:srgbClr val="D4A017"/>
            </a:solidFill>
            <a:prstDash val="solid"/>
          </a:ln>
        </p:spPr>
        <p:txBody>
          <a:bodyPr/>
          <a:lstStyle/>
          <a:p>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44</TotalTime>
  <Words>485</Words>
  <Application>Microsoft Office PowerPoint</Application>
  <PresentationFormat>On-screen Show (16:9)</PresentationFormat>
  <Paragraphs>122</Paragraphs>
  <Slides>11</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IPL Auction Performance Analytics</dc:title>
  <dc:subject>PptxGenJS Presentation</dc:subject>
  <dc:creator>PptxGenJS</dc:creator>
  <cp:lastModifiedBy>Sai Sneha Vadlakonda</cp:lastModifiedBy>
  <cp:revision>2</cp:revision>
  <dcterms:created xsi:type="dcterms:W3CDTF">2026-03-06T09:29:21Z</dcterms:created>
  <dcterms:modified xsi:type="dcterms:W3CDTF">2026-03-06T10:16:35Z</dcterms:modified>
</cp:coreProperties>
</file>